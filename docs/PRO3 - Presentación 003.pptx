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64" r:id="rId4"/>
  </p:sldMasterIdLst>
  <p:notesMasterIdLst>
    <p:notesMasterId r:id="rId9"/>
  </p:notesMasterIdLst>
  <p:handoutMasterIdLst>
    <p:handoutMasterId r:id="rId10"/>
  </p:handoutMasterIdLst>
  <p:sldIdLst>
    <p:sldId id="261" r:id="rId5"/>
    <p:sldId id="264" r:id="rId6"/>
    <p:sldId id="265" r:id="rId7"/>
    <p:sldId id="266" r:id="rId8"/>
  </p:sldIdLst>
  <p:sldSz cx="12192000" cy="6858000"/>
  <p:notesSz cx="6858000" cy="9144000"/>
  <p:defaultTextStyle>
    <a:defPPr rtl="0"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12" autoAdjust="0"/>
  </p:normalViewPr>
  <p:slideViewPr>
    <p:cSldViewPr snapToGrid="0">
      <p:cViewPr varScale="1">
        <p:scale>
          <a:sx n="61" d="100"/>
          <a:sy n="61" d="100"/>
        </p:scale>
        <p:origin x="97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3786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4769819-67AB-4A4A-8E16-515B6EA9C4E3}" type="doc">
      <dgm:prSet loTypeId="urn:microsoft.com/office/officeart/2005/8/layout/hProcess4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s-EC"/>
        </a:p>
      </dgm:t>
    </dgm:pt>
    <dgm:pt modelId="{EFFA6AE4-D47D-4F38-BACE-8CE8FF9F0416}">
      <dgm:prSet phldrT="[Texto]" phldr="0"/>
      <dgm:spPr/>
      <dgm:t>
        <a:bodyPr/>
        <a:lstStyle/>
        <a:p>
          <a:r>
            <a:rPr lang="es-ES" b="1" dirty="0">
              <a:solidFill>
                <a:srgbClr val="002060"/>
              </a:solidFill>
            </a:rPr>
            <a:t>Búsqueda de proyectos</a:t>
          </a:r>
          <a:endParaRPr lang="es-EC" b="1" dirty="0">
            <a:solidFill>
              <a:srgbClr val="002060"/>
            </a:solidFill>
          </a:endParaRPr>
        </a:p>
      </dgm:t>
    </dgm:pt>
    <dgm:pt modelId="{76D8AE0F-41F4-4D96-9B0D-87BB653D2426}" type="parTrans" cxnId="{E717919E-B69E-44C9-9C2C-274521401D06}">
      <dgm:prSet/>
      <dgm:spPr/>
      <dgm:t>
        <a:bodyPr/>
        <a:lstStyle/>
        <a:p>
          <a:endParaRPr lang="es-EC"/>
        </a:p>
      </dgm:t>
    </dgm:pt>
    <dgm:pt modelId="{8CB1A8A4-0663-48B0-9DD5-8D7232AEE906}" type="sibTrans" cxnId="{E717919E-B69E-44C9-9C2C-274521401D06}">
      <dgm:prSet/>
      <dgm:spPr/>
      <dgm:t>
        <a:bodyPr/>
        <a:lstStyle/>
        <a:p>
          <a:endParaRPr lang="es-EC"/>
        </a:p>
      </dgm:t>
    </dgm:pt>
    <dgm:pt modelId="{773D4BE5-44A5-47C9-B0C7-F23FE26DA6AA}">
      <dgm:prSet phldrT="[Texto]" phldr="0"/>
      <dgm:spPr/>
      <dgm:t>
        <a:bodyPr/>
        <a:lstStyle/>
        <a:p>
          <a:r>
            <a:rPr lang="es-ES" dirty="0"/>
            <a:t>Análisis de impacto (PESTEL) de los proyectos.</a:t>
          </a:r>
          <a:endParaRPr lang="es-EC" dirty="0"/>
        </a:p>
      </dgm:t>
    </dgm:pt>
    <dgm:pt modelId="{4BAE5668-0F68-40DB-A75A-B585D23144E4}" type="parTrans" cxnId="{7BDB2CEF-0B0A-4F61-8E92-BE33092378F1}">
      <dgm:prSet/>
      <dgm:spPr/>
      <dgm:t>
        <a:bodyPr/>
        <a:lstStyle/>
        <a:p>
          <a:endParaRPr lang="es-EC"/>
        </a:p>
      </dgm:t>
    </dgm:pt>
    <dgm:pt modelId="{FF389A2E-DB02-4778-B639-78C3046B00F2}" type="sibTrans" cxnId="{7BDB2CEF-0B0A-4F61-8E92-BE33092378F1}">
      <dgm:prSet/>
      <dgm:spPr/>
      <dgm:t>
        <a:bodyPr/>
        <a:lstStyle/>
        <a:p>
          <a:endParaRPr lang="es-EC"/>
        </a:p>
      </dgm:t>
    </dgm:pt>
    <dgm:pt modelId="{1E7AB9DE-D571-480D-9AA3-A8CDA487AA58}">
      <dgm:prSet phldrT="[Texto]" phldr="0"/>
      <dgm:spPr/>
      <dgm:t>
        <a:bodyPr/>
        <a:lstStyle/>
        <a:p>
          <a:r>
            <a:rPr lang="es-ES" b="1" dirty="0">
              <a:solidFill>
                <a:srgbClr val="002060"/>
              </a:solidFill>
            </a:rPr>
            <a:t>Selección de proyectos</a:t>
          </a:r>
          <a:endParaRPr lang="es-EC" b="1" dirty="0">
            <a:solidFill>
              <a:srgbClr val="002060"/>
            </a:solidFill>
          </a:endParaRPr>
        </a:p>
      </dgm:t>
    </dgm:pt>
    <dgm:pt modelId="{0E195E72-C5BE-48F6-B3C9-C1B1992C1FA0}" type="parTrans" cxnId="{330EF0F3-2D69-4E10-A8D9-D3F7C882BCAA}">
      <dgm:prSet/>
      <dgm:spPr/>
      <dgm:t>
        <a:bodyPr/>
        <a:lstStyle/>
        <a:p>
          <a:endParaRPr lang="es-EC"/>
        </a:p>
      </dgm:t>
    </dgm:pt>
    <dgm:pt modelId="{12B1A941-3408-4B8B-AD21-C641C0E7F55F}" type="sibTrans" cxnId="{330EF0F3-2D69-4E10-A8D9-D3F7C882BCAA}">
      <dgm:prSet/>
      <dgm:spPr/>
      <dgm:t>
        <a:bodyPr/>
        <a:lstStyle/>
        <a:p>
          <a:endParaRPr lang="es-EC"/>
        </a:p>
      </dgm:t>
    </dgm:pt>
    <dgm:pt modelId="{5B51F061-C585-4735-9D46-D7575AD43B1F}">
      <dgm:prSet phldrT="[Texto]" phldr="0"/>
      <dgm:spPr/>
      <dgm:t>
        <a:bodyPr/>
        <a:lstStyle/>
        <a:p>
          <a:r>
            <a:rPr lang="es-ES" dirty="0"/>
            <a:t>Creación de documentos para organismos y obtención de financiamiento.</a:t>
          </a:r>
          <a:endParaRPr lang="es-EC" dirty="0"/>
        </a:p>
      </dgm:t>
    </dgm:pt>
    <dgm:pt modelId="{51E95AAF-8D4E-44B9-AF0F-DCB64B16D051}" type="parTrans" cxnId="{671F18E5-594C-4418-9E5A-140AA7AE6318}">
      <dgm:prSet/>
      <dgm:spPr/>
      <dgm:t>
        <a:bodyPr/>
        <a:lstStyle/>
        <a:p>
          <a:endParaRPr lang="es-EC"/>
        </a:p>
      </dgm:t>
    </dgm:pt>
    <dgm:pt modelId="{58A08ACA-C1E6-40DE-AA4F-29C6FA0CF48F}" type="sibTrans" cxnId="{671F18E5-594C-4418-9E5A-140AA7AE6318}">
      <dgm:prSet/>
      <dgm:spPr/>
      <dgm:t>
        <a:bodyPr/>
        <a:lstStyle/>
        <a:p>
          <a:endParaRPr lang="es-EC"/>
        </a:p>
      </dgm:t>
    </dgm:pt>
    <dgm:pt modelId="{B423019B-930B-4D86-A661-425A30603922}">
      <dgm:prSet phldrT="[Texto]" phldr="0"/>
      <dgm:spPr/>
      <dgm:t>
        <a:bodyPr/>
        <a:lstStyle/>
        <a:p>
          <a:r>
            <a:rPr lang="es-ES" b="1" dirty="0">
              <a:solidFill>
                <a:srgbClr val="002060"/>
              </a:solidFill>
            </a:rPr>
            <a:t>Financiamiento de proyectos</a:t>
          </a:r>
          <a:endParaRPr lang="es-EC" b="1" dirty="0">
            <a:solidFill>
              <a:srgbClr val="002060"/>
            </a:solidFill>
          </a:endParaRPr>
        </a:p>
      </dgm:t>
    </dgm:pt>
    <dgm:pt modelId="{E3B469DD-DDEB-478F-986D-F6CAE0C5AA54}" type="parTrans" cxnId="{1ACD3F89-95F5-433B-8E52-CCF03B810CF6}">
      <dgm:prSet/>
      <dgm:spPr/>
      <dgm:t>
        <a:bodyPr/>
        <a:lstStyle/>
        <a:p>
          <a:endParaRPr lang="es-EC"/>
        </a:p>
      </dgm:t>
    </dgm:pt>
    <dgm:pt modelId="{3BDFFE35-8230-4DFF-A8B6-D3735EF8772D}" type="sibTrans" cxnId="{1ACD3F89-95F5-433B-8E52-CCF03B810CF6}">
      <dgm:prSet/>
      <dgm:spPr/>
      <dgm:t>
        <a:bodyPr/>
        <a:lstStyle/>
        <a:p>
          <a:endParaRPr lang="es-EC"/>
        </a:p>
      </dgm:t>
    </dgm:pt>
    <dgm:pt modelId="{C57E1752-7089-4213-B67F-857CF8106429}">
      <dgm:prSet phldrT="[Texto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EC" b="0" i="0" dirty="0"/>
            <a:t>Financiamiento no reembolsable</a:t>
          </a:r>
          <a:endParaRPr lang="es-EC" dirty="0"/>
        </a:p>
      </dgm:t>
    </dgm:pt>
    <dgm:pt modelId="{FACBEB0A-254E-4F48-8398-18DFC133818C}" type="parTrans" cxnId="{B715BE36-19A3-4F3F-A002-89B6CECF72B9}">
      <dgm:prSet/>
      <dgm:spPr/>
      <dgm:t>
        <a:bodyPr/>
        <a:lstStyle/>
        <a:p>
          <a:endParaRPr lang="es-EC"/>
        </a:p>
      </dgm:t>
    </dgm:pt>
    <dgm:pt modelId="{093D80DE-F0A3-4002-8945-C80833D11E38}" type="sibTrans" cxnId="{B715BE36-19A3-4F3F-A002-89B6CECF72B9}">
      <dgm:prSet/>
      <dgm:spPr/>
      <dgm:t>
        <a:bodyPr/>
        <a:lstStyle/>
        <a:p>
          <a:endParaRPr lang="es-EC"/>
        </a:p>
      </dgm:t>
    </dgm:pt>
    <dgm:pt modelId="{DE147C9E-C327-47F0-86B8-19E6D5AE7890}">
      <dgm:prSet phldrT="[Texto]" phldr="0"/>
      <dgm:spPr/>
      <dgm:t>
        <a:bodyPr/>
        <a:lstStyle/>
        <a:p>
          <a:r>
            <a:rPr lang="es-ES" dirty="0"/>
            <a:t>Ejecución y en 2da fase la producción</a:t>
          </a:r>
          <a:endParaRPr lang="es-EC" dirty="0"/>
        </a:p>
      </dgm:t>
    </dgm:pt>
    <dgm:pt modelId="{9C6F5073-C396-448C-A7C0-604DF2D950EB}" type="parTrans" cxnId="{FD94B27C-7B43-4A49-A5E8-15C8CB79843A}">
      <dgm:prSet/>
      <dgm:spPr/>
      <dgm:t>
        <a:bodyPr/>
        <a:lstStyle/>
        <a:p>
          <a:endParaRPr lang="es-EC"/>
        </a:p>
      </dgm:t>
    </dgm:pt>
    <dgm:pt modelId="{2AE3FEE6-7F89-455E-86F5-76FA669238BF}" type="sibTrans" cxnId="{FD94B27C-7B43-4A49-A5E8-15C8CB79843A}">
      <dgm:prSet/>
      <dgm:spPr/>
      <dgm:t>
        <a:bodyPr/>
        <a:lstStyle/>
        <a:p>
          <a:endParaRPr lang="es-EC"/>
        </a:p>
      </dgm:t>
    </dgm:pt>
    <dgm:pt modelId="{2F6268A0-D7D0-44DC-A540-85E54ADBB6D7}" type="pres">
      <dgm:prSet presAssocID="{E4769819-67AB-4A4A-8E16-515B6EA9C4E3}" presName="Name0" presStyleCnt="0">
        <dgm:presLayoutVars>
          <dgm:dir/>
          <dgm:animLvl val="lvl"/>
          <dgm:resizeHandles val="exact"/>
        </dgm:presLayoutVars>
      </dgm:prSet>
      <dgm:spPr/>
    </dgm:pt>
    <dgm:pt modelId="{1C78B200-38B5-49F4-8AB5-B008820FA5D5}" type="pres">
      <dgm:prSet presAssocID="{E4769819-67AB-4A4A-8E16-515B6EA9C4E3}" presName="tSp" presStyleCnt="0"/>
      <dgm:spPr/>
    </dgm:pt>
    <dgm:pt modelId="{2F381380-E9BC-4A57-86BA-F76254160D8F}" type="pres">
      <dgm:prSet presAssocID="{E4769819-67AB-4A4A-8E16-515B6EA9C4E3}" presName="bSp" presStyleCnt="0"/>
      <dgm:spPr/>
    </dgm:pt>
    <dgm:pt modelId="{06E036FD-9DFF-4B19-9988-F6809D06DC42}" type="pres">
      <dgm:prSet presAssocID="{E4769819-67AB-4A4A-8E16-515B6EA9C4E3}" presName="process" presStyleCnt="0"/>
      <dgm:spPr/>
    </dgm:pt>
    <dgm:pt modelId="{14A479FE-BE8D-41F5-BDDC-57834F2854A1}" type="pres">
      <dgm:prSet presAssocID="{EFFA6AE4-D47D-4F38-BACE-8CE8FF9F0416}" presName="composite1" presStyleCnt="0"/>
      <dgm:spPr/>
    </dgm:pt>
    <dgm:pt modelId="{B5D0F655-7C9E-4F5F-ACE1-6500B19F502D}" type="pres">
      <dgm:prSet presAssocID="{EFFA6AE4-D47D-4F38-BACE-8CE8FF9F0416}" presName="dummyNode1" presStyleLbl="node1" presStyleIdx="0" presStyleCnt="3"/>
      <dgm:spPr/>
    </dgm:pt>
    <dgm:pt modelId="{C9CAD142-AFEE-422D-B74A-197315644016}" type="pres">
      <dgm:prSet presAssocID="{EFFA6AE4-D47D-4F38-BACE-8CE8FF9F0416}" presName="childNode1" presStyleLbl="bgAcc1" presStyleIdx="0" presStyleCnt="3">
        <dgm:presLayoutVars>
          <dgm:bulletEnabled val="1"/>
        </dgm:presLayoutVars>
      </dgm:prSet>
      <dgm:spPr/>
    </dgm:pt>
    <dgm:pt modelId="{6E39D17E-F262-461D-BD97-3DD4B55B66B0}" type="pres">
      <dgm:prSet presAssocID="{EFFA6AE4-D47D-4F38-BACE-8CE8FF9F0416}" presName="childNode1tx" presStyleLbl="bgAcc1" presStyleIdx="0" presStyleCnt="3">
        <dgm:presLayoutVars>
          <dgm:bulletEnabled val="1"/>
        </dgm:presLayoutVars>
      </dgm:prSet>
      <dgm:spPr/>
    </dgm:pt>
    <dgm:pt modelId="{5DA3ED52-CD46-4376-9373-3054FCF96931}" type="pres">
      <dgm:prSet presAssocID="{EFFA6AE4-D47D-4F38-BACE-8CE8FF9F0416}" presName="parentNode1" presStyleLbl="node1" presStyleIdx="0" presStyleCnt="3">
        <dgm:presLayoutVars>
          <dgm:chMax val="1"/>
          <dgm:bulletEnabled val="1"/>
        </dgm:presLayoutVars>
      </dgm:prSet>
      <dgm:spPr/>
    </dgm:pt>
    <dgm:pt modelId="{4349440D-A0FB-4337-848F-FB5952E4D042}" type="pres">
      <dgm:prSet presAssocID="{EFFA6AE4-D47D-4F38-BACE-8CE8FF9F0416}" presName="connSite1" presStyleCnt="0"/>
      <dgm:spPr/>
    </dgm:pt>
    <dgm:pt modelId="{55017925-9FB3-4D08-A220-711C61CA55E4}" type="pres">
      <dgm:prSet presAssocID="{8CB1A8A4-0663-48B0-9DD5-8D7232AEE906}" presName="Name9" presStyleLbl="sibTrans2D1" presStyleIdx="0" presStyleCnt="2"/>
      <dgm:spPr/>
    </dgm:pt>
    <dgm:pt modelId="{246426D9-8385-4ACB-A6B9-6C51502E567E}" type="pres">
      <dgm:prSet presAssocID="{1E7AB9DE-D571-480D-9AA3-A8CDA487AA58}" presName="composite2" presStyleCnt="0"/>
      <dgm:spPr/>
    </dgm:pt>
    <dgm:pt modelId="{8899A434-50AA-4712-92BD-70E909B082CA}" type="pres">
      <dgm:prSet presAssocID="{1E7AB9DE-D571-480D-9AA3-A8CDA487AA58}" presName="dummyNode2" presStyleLbl="node1" presStyleIdx="0" presStyleCnt="3"/>
      <dgm:spPr/>
    </dgm:pt>
    <dgm:pt modelId="{A5C38F33-D16D-46FE-BAAB-8D4975ADB365}" type="pres">
      <dgm:prSet presAssocID="{1E7AB9DE-D571-480D-9AA3-A8CDA487AA58}" presName="childNode2" presStyleLbl="bgAcc1" presStyleIdx="1" presStyleCnt="3">
        <dgm:presLayoutVars>
          <dgm:bulletEnabled val="1"/>
        </dgm:presLayoutVars>
      </dgm:prSet>
      <dgm:spPr/>
    </dgm:pt>
    <dgm:pt modelId="{B627CC03-5AC0-40B0-B649-4484F7CB15C4}" type="pres">
      <dgm:prSet presAssocID="{1E7AB9DE-D571-480D-9AA3-A8CDA487AA58}" presName="childNode2tx" presStyleLbl="bgAcc1" presStyleIdx="1" presStyleCnt="3">
        <dgm:presLayoutVars>
          <dgm:bulletEnabled val="1"/>
        </dgm:presLayoutVars>
      </dgm:prSet>
      <dgm:spPr/>
    </dgm:pt>
    <dgm:pt modelId="{A2124853-547D-4894-839D-7D8511C4968D}" type="pres">
      <dgm:prSet presAssocID="{1E7AB9DE-D571-480D-9AA3-A8CDA487AA58}" presName="parentNode2" presStyleLbl="node1" presStyleIdx="1" presStyleCnt="3">
        <dgm:presLayoutVars>
          <dgm:chMax val="0"/>
          <dgm:bulletEnabled val="1"/>
        </dgm:presLayoutVars>
      </dgm:prSet>
      <dgm:spPr/>
    </dgm:pt>
    <dgm:pt modelId="{B525E990-1DCF-4F0D-BD96-E8D730315C07}" type="pres">
      <dgm:prSet presAssocID="{1E7AB9DE-D571-480D-9AA3-A8CDA487AA58}" presName="connSite2" presStyleCnt="0"/>
      <dgm:spPr/>
    </dgm:pt>
    <dgm:pt modelId="{23B77AC6-3F04-49A4-B769-DC4C8E87CB29}" type="pres">
      <dgm:prSet presAssocID="{12B1A941-3408-4B8B-AD21-C641C0E7F55F}" presName="Name18" presStyleLbl="sibTrans2D1" presStyleIdx="1" presStyleCnt="2"/>
      <dgm:spPr/>
    </dgm:pt>
    <dgm:pt modelId="{959040D7-C7F2-4AE1-94D5-2208AD72D5D1}" type="pres">
      <dgm:prSet presAssocID="{B423019B-930B-4D86-A661-425A30603922}" presName="composite1" presStyleCnt="0"/>
      <dgm:spPr/>
    </dgm:pt>
    <dgm:pt modelId="{E678A7C4-384A-4255-843F-B30FD0482FAD}" type="pres">
      <dgm:prSet presAssocID="{B423019B-930B-4D86-A661-425A30603922}" presName="dummyNode1" presStyleLbl="node1" presStyleIdx="1" presStyleCnt="3"/>
      <dgm:spPr/>
    </dgm:pt>
    <dgm:pt modelId="{1CDF994D-0A03-44B8-B953-7E617B8F3157}" type="pres">
      <dgm:prSet presAssocID="{B423019B-930B-4D86-A661-425A30603922}" presName="childNode1" presStyleLbl="bgAcc1" presStyleIdx="2" presStyleCnt="3">
        <dgm:presLayoutVars>
          <dgm:bulletEnabled val="1"/>
        </dgm:presLayoutVars>
      </dgm:prSet>
      <dgm:spPr/>
    </dgm:pt>
    <dgm:pt modelId="{868146F7-CD1D-4D76-8541-5C205AEB52C4}" type="pres">
      <dgm:prSet presAssocID="{B423019B-930B-4D86-A661-425A30603922}" presName="childNode1tx" presStyleLbl="bgAcc1" presStyleIdx="2" presStyleCnt="3">
        <dgm:presLayoutVars>
          <dgm:bulletEnabled val="1"/>
        </dgm:presLayoutVars>
      </dgm:prSet>
      <dgm:spPr/>
    </dgm:pt>
    <dgm:pt modelId="{1BC4A3A4-567A-4590-BF7C-E49A1C0E5607}" type="pres">
      <dgm:prSet presAssocID="{B423019B-930B-4D86-A661-425A30603922}" presName="parentNode1" presStyleLbl="node1" presStyleIdx="2" presStyleCnt="3">
        <dgm:presLayoutVars>
          <dgm:chMax val="1"/>
          <dgm:bulletEnabled val="1"/>
        </dgm:presLayoutVars>
      </dgm:prSet>
      <dgm:spPr/>
    </dgm:pt>
    <dgm:pt modelId="{974EC475-8ABF-42F9-BD42-F2B0FCD1B76F}" type="pres">
      <dgm:prSet presAssocID="{B423019B-930B-4D86-A661-425A30603922}" presName="connSite1" presStyleCnt="0"/>
      <dgm:spPr/>
    </dgm:pt>
  </dgm:ptLst>
  <dgm:cxnLst>
    <dgm:cxn modelId="{7A869D00-91C3-47E8-9D97-4A3490D22D6F}" type="presOf" srcId="{5B51F061-C585-4735-9D46-D7575AD43B1F}" destId="{B627CC03-5AC0-40B0-B649-4484F7CB15C4}" srcOrd="1" destOrd="0" presId="urn:microsoft.com/office/officeart/2005/8/layout/hProcess4"/>
    <dgm:cxn modelId="{F5ACA71F-97BB-435B-B3D0-A2DE59205EB4}" type="presOf" srcId="{5B51F061-C585-4735-9D46-D7575AD43B1F}" destId="{A5C38F33-D16D-46FE-BAAB-8D4975ADB365}" srcOrd="0" destOrd="0" presId="urn:microsoft.com/office/officeart/2005/8/layout/hProcess4"/>
    <dgm:cxn modelId="{B715BE36-19A3-4F3F-A002-89B6CECF72B9}" srcId="{B423019B-930B-4D86-A661-425A30603922}" destId="{C57E1752-7089-4213-B67F-857CF8106429}" srcOrd="0" destOrd="0" parTransId="{FACBEB0A-254E-4F48-8398-18DFC133818C}" sibTransId="{093D80DE-F0A3-4002-8945-C80833D11E38}"/>
    <dgm:cxn modelId="{42B32D3B-DDD4-475C-AFFA-9750D0CD2C5F}" type="presOf" srcId="{773D4BE5-44A5-47C9-B0C7-F23FE26DA6AA}" destId="{C9CAD142-AFEE-422D-B74A-197315644016}" srcOrd="0" destOrd="0" presId="urn:microsoft.com/office/officeart/2005/8/layout/hProcess4"/>
    <dgm:cxn modelId="{E47E1B62-9688-440A-9B67-648852FE3102}" type="presOf" srcId="{1E7AB9DE-D571-480D-9AA3-A8CDA487AA58}" destId="{A2124853-547D-4894-839D-7D8511C4968D}" srcOrd="0" destOrd="0" presId="urn:microsoft.com/office/officeart/2005/8/layout/hProcess4"/>
    <dgm:cxn modelId="{E353C469-4F09-4687-A90F-ADC5984EDC29}" type="presOf" srcId="{E4769819-67AB-4A4A-8E16-515B6EA9C4E3}" destId="{2F6268A0-D7D0-44DC-A540-85E54ADBB6D7}" srcOrd="0" destOrd="0" presId="urn:microsoft.com/office/officeart/2005/8/layout/hProcess4"/>
    <dgm:cxn modelId="{D6C2074B-0D35-48B4-BF35-A04448594DAF}" type="presOf" srcId="{EFFA6AE4-D47D-4F38-BACE-8CE8FF9F0416}" destId="{5DA3ED52-CD46-4376-9373-3054FCF96931}" srcOrd="0" destOrd="0" presId="urn:microsoft.com/office/officeart/2005/8/layout/hProcess4"/>
    <dgm:cxn modelId="{C323974B-A2A3-44B5-AA1A-FF146BC7B5E1}" type="presOf" srcId="{DE147C9E-C327-47F0-86B8-19E6D5AE7890}" destId="{868146F7-CD1D-4D76-8541-5C205AEB52C4}" srcOrd="1" destOrd="1" presId="urn:microsoft.com/office/officeart/2005/8/layout/hProcess4"/>
    <dgm:cxn modelId="{60D2D74E-15B1-4B02-A330-DBB8A40E5908}" type="presOf" srcId="{C57E1752-7089-4213-B67F-857CF8106429}" destId="{868146F7-CD1D-4D76-8541-5C205AEB52C4}" srcOrd="1" destOrd="0" presId="urn:microsoft.com/office/officeart/2005/8/layout/hProcess4"/>
    <dgm:cxn modelId="{0176FF4E-7D7A-4B88-BF48-30C28838A1DB}" type="presOf" srcId="{B423019B-930B-4D86-A661-425A30603922}" destId="{1BC4A3A4-567A-4590-BF7C-E49A1C0E5607}" srcOrd="0" destOrd="0" presId="urn:microsoft.com/office/officeart/2005/8/layout/hProcess4"/>
    <dgm:cxn modelId="{A3B60978-39FA-41B3-8386-28B9F44571BA}" type="presOf" srcId="{12B1A941-3408-4B8B-AD21-C641C0E7F55F}" destId="{23B77AC6-3F04-49A4-B769-DC4C8E87CB29}" srcOrd="0" destOrd="0" presId="urn:microsoft.com/office/officeart/2005/8/layout/hProcess4"/>
    <dgm:cxn modelId="{FD94B27C-7B43-4A49-A5E8-15C8CB79843A}" srcId="{B423019B-930B-4D86-A661-425A30603922}" destId="{DE147C9E-C327-47F0-86B8-19E6D5AE7890}" srcOrd="1" destOrd="0" parTransId="{9C6F5073-C396-448C-A7C0-604DF2D950EB}" sibTransId="{2AE3FEE6-7F89-455E-86F5-76FA669238BF}"/>
    <dgm:cxn modelId="{1ACD3F89-95F5-433B-8E52-CCF03B810CF6}" srcId="{E4769819-67AB-4A4A-8E16-515B6EA9C4E3}" destId="{B423019B-930B-4D86-A661-425A30603922}" srcOrd="2" destOrd="0" parTransId="{E3B469DD-DDEB-478F-986D-F6CAE0C5AA54}" sibTransId="{3BDFFE35-8230-4DFF-A8B6-D3735EF8772D}"/>
    <dgm:cxn modelId="{667A6393-143E-41C5-99C2-A849C1E7C05F}" type="presOf" srcId="{C57E1752-7089-4213-B67F-857CF8106429}" destId="{1CDF994D-0A03-44B8-B953-7E617B8F3157}" srcOrd="0" destOrd="0" presId="urn:microsoft.com/office/officeart/2005/8/layout/hProcess4"/>
    <dgm:cxn modelId="{E717919E-B69E-44C9-9C2C-274521401D06}" srcId="{E4769819-67AB-4A4A-8E16-515B6EA9C4E3}" destId="{EFFA6AE4-D47D-4F38-BACE-8CE8FF9F0416}" srcOrd="0" destOrd="0" parTransId="{76D8AE0F-41F4-4D96-9B0D-87BB653D2426}" sibTransId="{8CB1A8A4-0663-48B0-9DD5-8D7232AEE906}"/>
    <dgm:cxn modelId="{5B0C09D6-42EF-469F-B55D-570F9CADBEE2}" type="presOf" srcId="{773D4BE5-44A5-47C9-B0C7-F23FE26DA6AA}" destId="{6E39D17E-F262-461D-BD97-3DD4B55B66B0}" srcOrd="1" destOrd="0" presId="urn:microsoft.com/office/officeart/2005/8/layout/hProcess4"/>
    <dgm:cxn modelId="{671F18E5-594C-4418-9E5A-140AA7AE6318}" srcId="{1E7AB9DE-D571-480D-9AA3-A8CDA487AA58}" destId="{5B51F061-C585-4735-9D46-D7575AD43B1F}" srcOrd="0" destOrd="0" parTransId="{51E95AAF-8D4E-44B9-AF0F-DCB64B16D051}" sibTransId="{58A08ACA-C1E6-40DE-AA4F-29C6FA0CF48F}"/>
    <dgm:cxn modelId="{7BDB2CEF-0B0A-4F61-8E92-BE33092378F1}" srcId="{EFFA6AE4-D47D-4F38-BACE-8CE8FF9F0416}" destId="{773D4BE5-44A5-47C9-B0C7-F23FE26DA6AA}" srcOrd="0" destOrd="0" parTransId="{4BAE5668-0F68-40DB-A75A-B585D23144E4}" sibTransId="{FF389A2E-DB02-4778-B639-78C3046B00F2}"/>
    <dgm:cxn modelId="{330EF0F3-2D69-4E10-A8D9-D3F7C882BCAA}" srcId="{E4769819-67AB-4A4A-8E16-515B6EA9C4E3}" destId="{1E7AB9DE-D571-480D-9AA3-A8CDA487AA58}" srcOrd="1" destOrd="0" parTransId="{0E195E72-C5BE-48F6-B3C9-C1B1992C1FA0}" sibTransId="{12B1A941-3408-4B8B-AD21-C641C0E7F55F}"/>
    <dgm:cxn modelId="{B99AC9F4-46DA-4D37-A83B-E2D767FCEAA3}" type="presOf" srcId="{DE147C9E-C327-47F0-86B8-19E6D5AE7890}" destId="{1CDF994D-0A03-44B8-B953-7E617B8F3157}" srcOrd="0" destOrd="1" presId="urn:microsoft.com/office/officeart/2005/8/layout/hProcess4"/>
    <dgm:cxn modelId="{CFE0F3FF-1016-4009-BBA0-5EC63CD4EC95}" type="presOf" srcId="{8CB1A8A4-0663-48B0-9DD5-8D7232AEE906}" destId="{55017925-9FB3-4D08-A220-711C61CA55E4}" srcOrd="0" destOrd="0" presId="urn:microsoft.com/office/officeart/2005/8/layout/hProcess4"/>
    <dgm:cxn modelId="{3EDE06C2-2EE7-4ED7-A972-E301F820F5A2}" type="presParOf" srcId="{2F6268A0-D7D0-44DC-A540-85E54ADBB6D7}" destId="{1C78B200-38B5-49F4-8AB5-B008820FA5D5}" srcOrd="0" destOrd="0" presId="urn:microsoft.com/office/officeart/2005/8/layout/hProcess4"/>
    <dgm:cxn modelId="{D5D12F1B-5A0A-48A4-8C1D-52CB0A2E20A6}" type="presParOf" srcId="{2F6268A0-D7D0-44DC-A540-85E54ADBB6D7}" destId="{2F381380-E9BC-4A57-86BA-F76254160D8F}" srcOrd="1" destOrd="0" presId="urn:microsoft.com/office/officeart/2005/8/layout/hProcess4"/>
    <dgm:cxn modelId="{184E2ABC-D534-4C9D-9E83-E41CB4E04105}" type="presParOf" srcId="{2F6268A0-D7D0-44DC-A540-85E54ADBB6D7}" destId="{06E036FD-9DFF-4B19-9988-F6809D06DC42}" srcOrd="2" destOrd="0" presId="urn:microsoft.com/office/officeart/2005/8/layout/hProcess4"/>
    <dgm:cxn modelId="{78D13E68-A003-46C5-B1A4-046E39D09195}" type="presParOf" srcId="{06E036FD-9DFF-4B19-9988-F6809D06DC42}" destId="{14A479FE-BE8D-41F5-BDDC-57834F2854A1}" srcOrd="0" destOrd="0" presId="urn:microsoft.com/office/officeart/2005/8/layout/hProcess4"/>
    <dgm:cxn modelId="{9FAD6BC8-242D-4A6F-BCEA-D4DE06D8C2B6}" type="presParOf" srcId="{14A479FE-BE8D-41F5-BDDC-57834F2854A1}" destId="{B5D0F655-7C9E-4F5F-ACE1-6500B19F502D}" srcOrd="0" destOrd="0" presId="urn:microsoft.com/office/officeart/2005/8/layout/hProcess4"/>
    <dgm:cxn modelId="{C146CE5D-5DC4-4980-8BE5-93DC62B6202F}" type="presParOf" srcId="{14A479FE-BE8D-41F5-BDDC-57834F2854A1}" destId="{C9CAD142-AFEE-422D-B74A-197315644016}" srcOrd="1" destOrd="0" presId="urn:microsoft.com/office/officeart/2005/8/layout/hProcess4"/>
    <dgm:cxn modelId="{E4BA524F-5158-44ED-B3DB-BAE5DF0D1866}" type="presParOf" srcId="{14A479FE-BE8D-41F5-BDDC-57834F2854A1}" destId="{6E39D17E-F262-461D-BD97-3DD4B55B66B0}" srcOrd="2" destOrd="0" presId="urn:microsoft.com/office/officeart/2005/8/layout/hProcess4"/>
    <dgm:cxn modelId="{AFF2A227-CDF5-4AD4-8581-4D220751F421}" type="presParOf" srcId="{14A479FE-BE8D-41F5-BDDC-57834F2854A1}" destId="{5DA3ED52-CD46-4376-9373-3054FCF96931}" srcOrd="3" destOrd="0" presId="urn:microsoft.com/office/officeart/2005/8/layout/hProcess4"/>
    <dgm:cxn modelId="{14B0C1A2-2FDB-45F7-9080-B5162B786E9B}" type="presParOf" srcId="{14A479FE-BE8D-41F5-BDDC-57834F2854A1}" destId="{4349440D-A0FB-4337-848F-FB5952E4D042}" srcOrd="4" destOrd="0" presId="urn:microsoft.com/office/officeart/2005/8/layout/hProcess4"/>
    <dgm:cxn modelId="{11901BBE-DC71-4364-B469-43F954C50222}" type="presParOf" srcId="{06E036FD-9DFF-4B19-9988-F6809D06DC42}" destId="{55017925-9FB3-4D08-A220-711C61CA55E4}" srcOrd="1" destOrd="0" presId="urn:microsoft.com/office/officeart/2005/8/layout/hProcess4"/>
    <dgm:cxn modelId="{DCF90A2C-C025-4E70-9800-AB527D6A9F7B}" type="presParOf" srcId="{06E036FD-9DFF-4B19-9988-F6809D06DC42}" destId="{246426D9-8385-4ACB-A6B9-6C51502E567E}" srcOrd="2" destOrd="0" presId="urn:microsoft.com/office/officeart/2005/8/layout/hProcess4"/>
    <dgm:cxn modelId="{4B28F4D2-E9E4-4559-AE0B-148B0E944DC6}" type="presParOf" srcId="{246426D9-8385-4ACB-A6B9-6C51502E567E}" destId="{8899A434-50AA-4712-92BD-70E909B082CA}" srcOrd="0" destOrd="0" presId="urn:microsoft.com/office/officeart/2005/8/layout/hProcess4"/>
    <dgm:cxn modelId="{0CDE32AA-150C-497E-8B19-40B0BA97E3AB}" type="presParOf" srcId="{246426D9-8385-4ACB-A6B9-6C51502E567E}" destId="{A5C38F33-D16D-46FE-BAAB-8D4975ADB365}" srcOrd="1" destOrd="0" presId="urn:microsoft.com/office/officeart/2005/8/layout/hProcess4"/>
    <dgm:cxn modelId="{F33DB2BF-AD24-4581-B07C-6EFE1A7BE35A}" type="presParOf" srcId="{246426D9-8385-4ACB-A6B9-6C51502E567E}" destId="{B627CC03-5AC0-40B0-B649-4484F7CB15C4}" srcOrd="2" destOrd="0" presId="urn:microsoft.com/office/officeart/2005/8/layout/hProcess4"/>
    <dgm:cxn modelId="{09D95416-A543-41E3-B2C2-443B32901CA1}" type="presParOf" srcId="{246426D9-8385-4ACB-A6B9-6C51502E567E}" destId="{A2124853-547D-4894-839D-7D8511C4968D}" srcOrd="3" destOrd="0" presId="urn:microsoft.com/office/officeart/2005/8/layout/hProcess4"/>
    <dgm:cxn modelId="{F5F054FE-F54D-4178-B6D2-A97E5E7300CA}" type="presParOf" srcId="{246426D9-8385-4ACB-A6B9-6C51502E567E}" destId="{B525E990-1DCF-4F0D-BD96-E8D730315C07}" srcOrd="4" destOrd="0" presId="urn:microsoft.com/office/officeart/2005/8/layout/hProcess4"/>
    <dgm:cxn modelId="{4C1D99B5-D7E4-4FA9-8725-36F196E27147}" type="presParOf" srcId="{06E036FD-9DFF-4B19-9988-F6809D06DC42}" destId="{23B77AC6-3F04-49A4-B769-DC4C8E87CB29}" srcOrd="3" destOrd="0" presId="urn:microsoft.com/office/officeart/2005/8/layout/hProcess4"/>
    <dgm:cxn modelId="{3D7D5E91-211A-4D21-9DEA-0FCA8EBD0DB6}" type="presParOf" srcId="{06E036FD-9DFF-4B19-9988-F6809D06DC42}" destId="{959040D7-C7F2-4AE1-94D5-2208AD72D5D1}" srcOrd="4" destOrd="0" presId="urn:microsoft.com/office/officeart/2005/8/layout/hProcess4"/>
    <dgm:cxn modelId="{86AA7BA1-9CB3-468B-86C2-AC04A8E4D5BB}" type="presParOf" srcId="{959040D7-C7F2-4AE1-94D5-2208AD72D5D1}" destId="{E678A7C4-384A-4255-843F-B30FD0482FAD}" srcOrd="0" destOrd="0" presId="urn:microsoft.com/office/officeart/2005/8/layout/hProcess4"/>
    <dgm:cxn modelId="{FA3B1B8E-D41B-468E-BB05-1919A92A92F1}" type="presParOf" srcId="{959040D7-C7F2-4AE1-94D5-2208AD72D5D1}" destId="{1CDF994D-0A03-44B8-B953-7E617B8F3157}" srcOrd="1" destOrd="0" presId="urn:microsoft.com/office/officeart/2005/8/layout/hProcess4"/>
    <dgm:cxn modelId="{0DAEDB6A-68FA-4381-859C-ACB8A013D4B9}" type="presParOf" srcId="{959040D7-C7F2-4AE1-94D5-2208AD72D5D1}" destId="{868146F7-CD1D-4D76-8541-5C205AEB52C4}" srcOrd="2" destOrd="0" presId="urn:microsoft.com/office/officeart/2005/8/layout/hProcess4"/>
    <dgm:cxn modelId="{51FFDE1A-9B85-4CB3-913E-BD96CB707CDE}" type="presParOf" srcId="{959040D7-C7F2-4AE1-94D5-2208AD72D5D1}" destId="{1BC4A3A4-567A-4590-BF7C-E49A1C0E5607}" srcOrd="3" destOrd="0" presId="urn:microsoft.com/office/officeart/2005/8/layout/hProcess4"/>
    <dgm:cxn modelId="{B10180D5-79BF-42A8-A5F9-69D2E10B4FA3}" type="presParOf" srcId="{959040D7-C7F2-4AE1-94D5-2208AD72D5D1}" destId="{974EC475-8ABF-42F9-BD42-F2B0FCD1B76F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CAD142-AFEE-422D-B74A-197315644016}">
      <dsp:nvSpPr>
        <dsp:cNvPr id="0" name=""/>
        <dsp:cNvSpPr/>
      </dsp:nvSpPr>
      <dsp:spPr>
        <a:xfrm>
          <a:off x="477" y="1651461"/>
          <a:ext cx="2204622" cy="181835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800" kern="1200" dirty="0"/>
            <a:t>Análisis de impacto (PESTEL) de los proyectos.</a:t>
          </a:r>
          <a:endParaRPr lang="es-EC" sz="1800" kern="1200" dirty="0"/>
        </a:p>
      </dsp:txBody>
      <dsp:txXfrm>
        <a:off x="42322" y="1693306"/>
        <a:ext cx="2120932" cy="1345015"/>
      </dsp:txXfrm>
    </dsp:sp>
    <dsp:sp modelId="{55017925-9FB3-4D08-A220-711C61CA55E4}">
      <dsp:nvSpPr>
        <dsp:cNvPr id="0" name=""/>
        <dsp:cNvSpPr/>
      </dsp:nvSpPr>
      <dsp:spPr>
        <a:xfrm>
          <a:off x="1263047" y="2169401"/>
          <a:ext cx="2305918" cy="2305918"/>
        </a:xfrm>
        <a:prstGeom prst="leftCircularArrow">
          <a:avLst>
            <a:gd name="adj1" fmla="val 2614"/>
            <a:gd name="adj2" fmla="val 317702"/>
            <a:gd name="adj3" fmla="val 2093212"/>
            <a:gd name="adj4" fmla="val 9024489"/>
            <a:gd name="adj5" fmla="val 305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A3ED52-CD46-4376-9373-3054FCF96931}">
      <dsp:nvSpPr>
        <dsp:cNvPr id="0" name=""/>
        <dsp:cNvSpPr/>
      </dsp:nvSpPr>
      <dsp:spPr>
        <a:xfrm>
          <a:off x="490393" y="3080166"/>
          <a:ext cx="1959664" cy="77929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40005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b="1" kern="1200" dirty="0">
              <a:solidFill>
                <a:srgbClr val="002060"/>
              </a:solidFill>
            </a:rPr>
            <a:t>Búsqueda de proyectos</a:t>
          </a:r>
          <a:endParaRPr lang="es-EC" sz="2100" b="1" kern="1200" dirty="0">
            <a:solidFill>
              <a:srgbClr val="002060"/>
            </a:solidFill>
          </a:endParaRPr>
        </a:p>
      </dsp:txBody>
      <dsp:txXfrm>
        <a:off x="513218" y="3102991"/>
        <a:ext cx="1914014" cy="733644"/>
      </dsp:txXfrm>
    </dsp:sp>
    <dsp:sp modelId="{A5C38F33-D16D-46FE-BAAB-8D4975ADB365}">
      <dsp:nvSpPr>
        <dsp:cNvPr id="0" name=""/>
        <dsp:cNvSpPr/>
      </dsp:nvSpPr>
      <dsp:spPr>
        <a:xfrm>
          <a:off x="2737144" y="1651461"/>
          <a:ext cx="2204622" cy="181835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800" kern="1200" dirty="0"/>
            <a:t>Creación de documentos para organismos y obtención de financiamiento.</a:t>
          </a:r>
          <a:endParaRPr lang="es-EC" sz="1800" kern="1200" dirty="0"/>
        </a:p>
      </dsp:txBody>
      <dsp:txXfrm>
        <a:off x="2778989" y="2082953"/>
        <a:ext cx="2120932" cy="1345015"/>
      </dsp:txXfrm>
    </dsp:sp>
    <dsp:sp modelId="{23B77AC6-3F04-49A4-B769-DC4C8E87CB29}">
      <dsp:nvSpPr>
        <dsp:cNvPr id="0" name=""/>
        <dsp:cNvSpPr/>
      </dsp:nvSpPr>
      <dsp:spPr>
        <a:xfrm>
          <a:off x="3981341" y="574658"/>
          <a:ext cx="2587620" cy="2587620"/>
        </a:xfrm>
        <a:prstGeom prst="circularArrow">
          <a:avLst>
            <a:gd name="adj1" fmla="val 2330"/>
            <a:gd name="adj2" fmla="val 281255"/>
            <a:gd name="adj3" fmla="val 19543235"/>
            <a:gd name="adj4" fmla="val 12575511"/>
            <a:gd name="adj5" fmla="val 2718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124853-547D-4894-839D-7D8511C4968D}">
      <dsp:nvSpPr>
        <dsp:cNvPr id="0" name=""/>
        <dsp:cNvSpPr/>
      </dsp:nvSpPr>
      <dsp:spPr>
        <a:xfrm>
          <a:off x="3227060" y="1261814"/>
          <a:ext cx="1959664" cy="77929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40005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b="1" kern="1200" dirty="0">
              <a:solidFill>
                <a:srgbClr val="002060"/>
              </a:solidFill>
            </a:rPr>
            <a:t>Selección de proyectos</a:t>
          </a:r>
          <a:endParaRPr lang="es-EC" sz="2100" b="1" kern="1200" dirty="0">
            <a:solidFill>
              <a:srgbClr val="002060"/>
            </a:solidFill>
          </a:endParaRPr>
        </a:p>
      </dsp:txBody>
      <dsp:txXfrm>
        <a:off x="3249885" y="1284639"/>
        <a:ext cx="1914014" cy="733644"/>
      </dsp:txXfrm>
    </dsp:sp>
    <dsp:sp modelId="{1CDF994D-0A03-44B8-B953-7E617B8F3157}">
      <dsp:nvSpPr>
        <dsp:cNvPr id="0" name=""/>
        <dsp:cNvSpPr/>
      </dsp:nvSpPr>
      <dsp:spPr>
        <a:xfrm>
          <a:off x="5473810" y="1651461"/>
          <a:ext cx="2204622" cy="181835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s-EC" sz="1800" b="0" i="0" kern="1200" dirty="0"/>
            <a:t>Financiamiento no reembolsable</a:t>
          </a:r>
          <a:endParaRPr lang="es-EC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800" kern="1200" dirty="0"/>
            <a:t>Ejecución y en 2da fase la producción</a:t>
          </a:r>
          <a:endParaRPr lang="es-EC" sz="1800" kern="1200" dirty="0"/>
        </a:p>
      </dsp:txBody>
      <dsp:txXfrm>
        <a:off x="5515655" y="1693306"/>
        <a:ext cx="2120932" cy="1345015"/>
      </dsp:txXfrm>
    </dsp:sp>
    <dsp:sp modelId="{1BC4A3A4-567A-4590-BF7C-E49A1C0E5607}">
      <dsp:nvSpPr>
        <dsp:cNvPr id="0" name=""/>
        <dsp:cNvSpPr/>
      </dsp:nvSpPr>
      <dsp:spPr>
        <a:xfrm>
          <a:off x="5963726" y="3080166"/>
          <a:ext cx="1959664" cy="77929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40005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b="1" kern="1200" dirty="0">
              <a:solidFill>
                <a:srgbClr val="002060"/>
              </a:solidFill>
            </a:rPr>
            <a:t>Financiamiento de proyectos</a:t>
          </a:r>
          <a:endParaRPr lang="es-EC" sz="2100" b="1" kern="1200" dirty="0">
            <a:solidFill>
              <a:srgbClr val="002060"/>
            </a:solidFill>
          </a:endParaRPr>
        </a:p>
      </dsp:txBody>
      <dsp:txXfrm>
        <a:off x="5986551" y="3102991"/>
        <a:ext cx="1914014" cy="7336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E3ECEABD-58F0-41C6-A1B5-F6BCA99201A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824CFB2-AD5F-4363-9017-5DD74EA6366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536900-A273-4192-A5F3-D1D52B781480}" type="datetimeFigureOut">
              <a:rPr lang="es-ES" smtClean="0"/>
              <a:t>21/02/2026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F5FA4A3-C7C2-4A5D-BD7B-6E9B206E44D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BE1097B-EDEA-44B3-8B20-0934D4301D1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5287E5-8F30-4233-B83B-DACBFA43529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228992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 noProof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68868E-82C9-4335-AB18-48A43B8F09ED}" type="datetimeFigureOut">
              <a:rPr lang="es-ES" noProof="0" smtClean="0"/>
              <a:t>21/02/2026</a:t>
            </a:fld>
            <a:endParaRPr lang="es-ES" noProof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 noProof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noProof="0"/>
              <a:t>Editar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 noProof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3F3837-1EA1-4185-B041-082E69BD8CF5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5482238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F3837-1EA1-4185-B041-082E69BD8CF5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833387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C"/>
          </a:p>
        </p:txBody>
      </p:sp>
      <p:sp>
        <p:nvSpPr>
          <p:cNvPr id="8" name="Rectángulo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C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rtlCol="0"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es-ES" noProof="0"/>
              <a:t>Haga clic para modificar el estilo de subtítulo del patrón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BA5B8F1-8BA2-463E-A233-EBF9544C9EAD}" type="datetime1">
              <a:rPr lang="es-ES" noProof="0" smtClean="0"/>
              <a:t>21/02/2026</a:t>
            </a:fld>
            <a:endParaRPr lang="es-ES" noProof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3546601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>
            <a:lvl1pPr>
              <a:defRPr/>
            </a:lvl1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EA9532B-B965-4CFD-8C70-7B573D9714E9}" type="datetime1">
              <a:rPr lang="es-ES" noProof="0" smtClean="0"/>
              <a:t>21/02/2026</a:t>
            </a:fld>
            <a:endParaRPr lang="es-ES" noProof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181794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rtlCol="0" anchor="b">
            <a:normAutofit/>
          </a:bodyPr>
          <a:lstStyle>
            <a:lvl1pPr>
              <a:defRPr sz="5900" b="0" spc="-100" baseline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 hasCustomPrompt="1"/>
          </p:nvPr>
        </p:nvSpPr>
        <p:spPr>
          <a:xfrm>
            <a:off x="3886200" y="4672584"/>
            <a:ext cx="7315200" cy="914400"/>
          </a:xfrm>
        </p:spPr>
        <p:txBody>
          <a:bodyPr rtlCol="0"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B2E1E6C-3F7B-4A58-8073-DE91827AE258}" type="datetime1">
              <a:rPr lang="es-ES" noProof="0" smtClean="0"/>
              <a:t>21/02/2026</a:t>
            </a:fld>
            <a:endParaRPr lang="es-ES" noProof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10662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contenido 2"/>
          <p:cNvSpPr>
            <a:spLocks noGrp="1"/>
          </p:cNvSpPr>
          <p:nvPr>
            <p:ph sz="half" idx="1" hasCustomPrompt="1"/>
          </p:nvPr>
        </p:nvSpPr>
        <p:spPr>
          <a:xfrm>
            <a:off x="3867912" y="868680"/>
            <a:ext cx="3474720" cy="5120640"/>
          </a:xfrm>
        </p:spPr>
        <p:txBody>
          <a:bodyPr rtlCol="0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 hasCustomPrompt="1"/>
          </p:nvPr>
        </p:nvSpPr>
        <p:spPr>
          <a:xfrm>
            <a:off x="7818120" y="868680"/>
            <a:ext cx="3474720" cy="5120640"/>
          </a:xfrm>
        </p:spPr>
        <p:txBody>
          <a:bodyPr rtlCol="0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8" name="Marcador de posición de fecha 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9E3625D-CCA1-46AC-98D2-F055DCE80F3A}" type="datetime1">
              <a:rPr lang="es-ES" noProof="0" smtClean="0"/>
              <a:t>21/02/2026</a:t>
            </a:fld>
            <a:endParaRPr lang="es-ES" noProof="0"/>
          </a:p>
        </p:txBody>
      </p:sp>
      <p:sp>
        <p:nvSpPr>
          <p:cNvPr id="9" name="Marcador de posición de pie de página 8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10" name="Marcador de posición de número de diapositiva 9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413777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 hasCustomPrompt="1"/>
          </p:nvPr>
        </p:nvSpPr>
        <p:spPr>
          <a:xfrm>
            <a:off x="3867912" y="1023586"/>
            <a:ext cx="3474720" cy="807720"/>
          </a:xfrm>
        </p:spPr>
        <p:txBody>
          <a:bodyPr rtlCol="0"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 hasCustomPrompt="1"/>
          </p:nvPr>
        </p:nvSpPr>
        <p:spPr>
          <a:xfrm>
            <a:off x="3867912" y="1930936"/>
            <a:ext cx="3474720" cy="4023360"/>
          </a:xfrm>
        </p:spPr>
        <p:txBody>
          <a:bodyPr rtlCol="0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posición de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7818463" y="1023586"/>
            <a:ext cx="3474720" cy="813171"/>
          </a:xfrm>
        </p:spPr>
        <p:txBody>
          <a:bodyPr rtlCol="0"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6" name="Marcador de posición de contenido 5"/>
          <p:cNvSpPr>
            <a:spLocks noGrp="1"/>
          </p:cNvSpPr>
          <p:nvPr>
            <p:ph sz="quarter" idx="4" hasCustomPrompt="1"/>
          </p:nvPr>
        </p:nvSpPr>
        <p:spPr>
          <a:xfrm>
            <a:off x="7818463" y="1930936"/>
            <a:ext cx="3474720" cy="4023360"/>
          </a:xfrm>
        </p:spPr>
        <p:txBody>
          <a:bodyPr rtlCol="0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2" name="Marcador de posición de fech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D63EFB8-5C08-4008-9B97-F8176CD39737}" type="datetime1">
              <a:rPr lang="es-ES" noProof="0" smtClean="0"/>
              <a:t>21/02/2026</a:t>
            </a:fld>
            <a:endParaRPr lang="es-ES" noProof="0"/>
          </a:p>
        </p:txBody>
      </p:sp>
      <p:sp>
        <p:nvSpPr>
          <p:cNvPr id="11" name="Marcador de posición de pie de página 10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12" name="Marcador de posición de número de diapositiva 11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394660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2" name="Marcador de posición de fech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241E37C-8E03-4609-A442-8667C3A8EBD8}" type="datetime1">
              <a:rPr lang="es-ES" noProof="0" smtClean="0"/>
              <a:t>21/02/2026</a:t>
            </a:fld>
            <a:endParaRPr lang="es-ES" noProof="0"/>
          </a:p>
        </p:txBody>
      </p:sp>
      <p:sp>
        <p:nvSpPr>
          <p:cNvPr id="7" name="Marcador de posición de pie de página 6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8" name="Marcador de número de diapositiva 7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632046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3CD2C8A-0368-46E3-8AD5-64D54475A9B4}" type="datetime1">
              <a:rPr lang="es-ES" noProof="0" smtClean="0"/>
              <a:t>21/02/2026</a:t>
            </a:fld>
            <a:endParaRPr lang="es-ES" noProof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164920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rtlCol="0" anchor="b">
            <a:normAutofit/>
          </a:bodyPr>
          <a:lstStyle>
            <a:lvl1pPr>
              <a:defRPr sz="3200" b="0" baseline="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 hasCustomPrompt="1"/>
          </p:nvPr>
        </p:nvSpPr>
        <p:spPr>
          <a:xfrm>
            <a:off x="3906981" y="1852122"/>
            <a:ext cx="2458230" cy="2008678"/>
          </a:xfrm>
        </p:spPr>
        <p:txBody>
          <a:bodyPr rtlCol="0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256032" y="3494176"/>
            <a:ext cx="2834640" cy="2321990"/>
          </a:xfrm>
        </p:spPr>
        <p:txBody>
          <a:bodyPr rtlCol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8" name="Marcador de fecha 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07F92E6-92B8-4BFC-AB1C-994666EF2AAA}" type="datetime1">
              <a:rPr lang="es-ES" noProof="0" smtClean="0"/>
              <a:t>21/02/2026</a:t>
            </a:fld>
            <a:endParaRPr lang="es-ES" noProof="0"/>
          </a:p>
        </p:txBody>
      </p:sp>
      <p:sp>
        <p:nvSpPr>
          <p:cNvPr id="9" name="Marcador de posición de pie de página 8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10" name="Marcador de posición de número de diapositiva 9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87B0DF2F-DAFD-4616-9E25-0C28D75BF306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491805" y="1852122"/>
            <a:ext cx="2458230" cy="2008678"/>
          </a:xfrm>
        </p:spPr>
        <p:txBody>
          <a:bodyPr rtlCol="0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336DA0F9-D851-437C-A45B-EC125A3D3DB3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9076629" y="1852122"/>
            <a:ext cx="2458230" cy="2008678"/>
          </a:xfrm>
        </p:spPr>
        <p:txBody>
          <a:bodyPr rtlCol="0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0FF0BA98-3AB4-4D88-B1C2-6279BCACFAD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87792" y="3971924"/>
            <a:ext cx="2477419" cy="803275"/>
          </a:xfrm>
        </p:spPr>
        <p:txBody>
          <a:bodyPr rtlCol="0"/>
          <a:lstStyle>
            <a:lvl1pPr marL="0" indent="0">
              <a:buNone/>
              <a:defRPr/>
            </a:lvl1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13" name="Marcador de texto 5">
            <a:extLst>
              <a:ext uri="{FF2B5EF4-FFF2-40B4-BE49-F238E27FC236}">
                <a16:creationId xmlns:a16="http://schemas.microsoft.com/office/drawing/2014/main" id="{D9DEF72B-B924-4A0D-8C83-3B370632C0D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72616" y="3971925"/>
            <a:ext cx="2477419" cy="803275"/>
          </a:xfrm>
        </p:spPr>
        <p:txBody>
          <a:bodyPr rtlCol="0"/>
          <a:lstStyle>
            <a:lvl1pPr marL="0" indent="0">
              <a:buNone/>
              <a:defRPr/>
            </a:lvl1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14" name="Marcador de texto 5">
            <a:extLst>
              <a:ext uri="{FF2B5EF4-FFF2-40B4-BE49-F238E27FC236}">
                <a16:creationId xmlns:a16="http://schemas.microsoft.com/office/drawing/2014/main" id="{E9D30C54-E9E8-4300-8DA4-352DB3A71A4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70239" y="3971924"/>
            <a:ext cx="2477419" cy="803275"/>
          </a:xfrm>
        </p:spPr>
        <p:txBody>
          <a:bodyPr rtlCol="0"/>
          <a:lstStyle>
            <a:lvl1pPr marL="0" indent="0">
              <a:buNone/>
              <a:defRPr/>
            </a:lvl1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075080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rtlCol="0" anchor="b">
            <a:normAutofit/>
          </a:bodyPr>
          <a:lstStyle>
            <a:lvl1pPr>
              <a:defRPr sz="3200" b="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256032" y="3493008"/>
            <a:ext cx="2834640" cy="2322576"/>
          </a:xfrm>
        </p:spPr>
        <p:txBody>
          <a:bodyPr rtlCol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8" name="Marcador de posición de fecha 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83E37CA-EF91-46B6-A2E7-BD02FAF2079C}" type="datetime1">
              <a:rPr lang="es-ES" noProof="0" smtClean="0"/>
              <a:t>21/02/2026</a:t>
            </a:fld>
            <a:endParaRPr lang="es-ES" noProof="0"/>
          </a:p>
        </p:txBody>
      </p:sp>
      <p:sp>
        <p:nvSpPr>
          <p:cNvPr id="9" name="Marcador de posición de pie de página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10" name="Marcador de número de diapositiva 9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059410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 anchor="t"/>
          <a:lstStyle>
            <a:lvl1pPr>
              <a:defRPr/>
            </a:lvl1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4C2A1C6-30E4-4BB7-B0A5-81DD08B863BE}" type="datetime1">
              <a:rPr lang="es-ES" noProof="0" smtClean="0"/>
              <a:t>21/02/2026</a:t>
            </a:fld>
            <a:endParaRPr lang="es-ES" noProof="0"/>
          </a:p>
        </p:txBody>
      </p:sp>
      <p:sp>
        <p:nvSpPr>
          <p:cNvPr id="8" name="Marcador de posición de pie de pá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943974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3867912" y="868680"/>
            <a:ext cx="7315200" cy="5120640"/>
          </a:xfrm>
        </p:spPr>
        <p:txBody>
          <a:bodyPr vert="eaVert" rtlCol="0" anchor="t"/>
          <a:lstStyle>
            <a:lvl1pPr>
              <a:defRPr/>
            </a:lvl1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2CF2578-F7E1-4AE6-A9CE-31E003EE66BF}" type="datetime1">
              <a:rPr lang="es-ES" noProof="0" smtClean="0"/>
              <a:t>21/02/2026</a:t>
            </a:fld>
            <a:endParaRPr lang="es-ES" noProof="0"/>
          </a:p>
        </p:txBody>
      </p:sp>
      <p:sp>
        <p:nvSpPr>
          <p:cNvPr id="8" name="Marcador de posición de pie de pá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197192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1" y="758952"/>
            <a:ext cx="2947482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C"/>
          </a:p>
        </p:txBody>
      </p:sp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35965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8" name="Rectángulo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C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3200401" y="864108"/>
            <a:ext cx="7984067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rtl="0"/>
            <a:fld id="{BEFF3C2B-FE6D-42D4-BBB0-67A75FA1ED9C}" type="datetime1">
              <a:rPr lang="es-ES" noProof="0" smtClean="0"/>
              <a:t>21/02/2026</a:t>
            </a:fld>
            <a:endParaRPr lang="es-ES" noProof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pPr rtl="0"/>
            <a:fld id="{4FAB73BC-B049-4115-A692-8D63A059BFB8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35939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microsoft.com/office/2007/relationships/hdphoto" Target="../media/hdphoto1.wdp"/><Relationship Id="rId7" Type="http://schemas.openxmlformats.org/officeDocument/2006/relationships/diagramColors" Target="../diagrams/colors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ángulo 9">
            <a:extLst>
              <a:ext uri="{FF2B5EF4-FFF2-40B4-BE49-F238E27FC236}">
                <a16:creationId xmlns:a16="http://schemas.microsoft.com/office/drawing/2014/main" id="{474A7FC5-56F0-4FE3-8383-04EE92963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/>
          </a:p>
        </p:txBody>
      </p:sp>
      <p:pic>
        <p:nvPicPr>
          <p:cNvPr id="5" name="Imagen 4" descr="Trabajando">
            <a:extLst>
              <a:ext uri="{FF2B5EF4-FFF2-40B4-BE49-F238E27FC236}">
                <a16:creationId xmlns:a16="http://schemas.microsoft.com/office/drawing/2014/main" id="{BC829010-59E7-4B6E-AE76-EEE7D0ED0D8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" y="-1"/>
            <a:ext cx="12188932" cy="6858000"/>
          </a:xfrm>
          <a:prstGeom prst="rect">
            <a:avLst/>
          </a:prstGeom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DE6BEBC3-6A99-4A53-9835-9875E0841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>
              <a:alpha val="9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C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993299F-3E8A-4BF7-9C3D-B9F22CF94C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9848" y="963828"/>
            <a:ext cx="7315200" cy="2903838"/>
          </a:xfrm>
        </p:spPr>
        <p:txBody>
          <a:bodyPr rtlCol="0">
            <a:normAutofit fontScale="90000"/>
          </a:bodyPr>
          <a:lstStyle/>
          <a:p>
            <a:r>
              <a:rPr lang="es-EC" dirty="0">
                <a:latin typeface="Aptos" panose="020B0004020202020204" pitchFamily="34" charset="0"/>
              </a:rPr>
              <a:t>PRO3</a:t>
            </a:r>
            <a:br>
              <a:rPr lang="es-EC" dirty="0">
                <a:latin typeface="Aptos" panose="020B0004020202020204" pitchFamily="34" charset="0"/>
              </a:rPr>
            </a:br>
            <a:r>
              <a:rPr lang="es-EC" sz="5300" dirty="0">
                <a:latin typeface="Aptos" panose="020B0004020202020204" pitchFamily="34" charset="0"/>
              </a:rPr>
              <a:t>Consultoría &amp; Capacitación en Gestión de Proyectos y Programas.</a:t>
            </a:r>
            <a:endParaRPr lang="es-ES" dirty="0">
              <a:latin typeface="Aptos" panose="020B0004020202020204" pitchFamily="34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F6083A9-53C1-4358-80D7-727411C121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7676" y="3889171"/>
            <a:ext cx="7315200" cy="728441"/>
          </a:xfrm>
        </p:spPr>
        <p:txBody>
          <a:bodyPr rtlCol="0">
            <a:normAutofit/>
          </a:bodyPr>
          <a:lstStyle/>
          <a:p>
            <a:pPr rtl="0"/>
            <a:r>
              <a:rPr lang="es-EC" b="1" dirty="0">
                <a:solidFill>
                  <a:schemeClr val="tx1"/>
                </a:solidFill>
              </a:rPr>
              <a:t>Transformamos ideas en resultados tangibles!!!</a:t>
            </a:r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D1006911-EDB8-4CDF-AEAA-A3FA060851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C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5A5620E-85E0-EF2F-FD85-0918B5C75BA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4886" b="89577" l="2885" r="96154">
                        <a14:foregroundMark x1="48718" y1="32899" x2="52244" y2="37134"/>
                        <a14:foregroundMark x1="50521" y1="18778" x2="51603" y2="19218"/>
                        <a14:foregroundMark x1="48580" y1="17989" x2="47204" y2="17430"/>
                        <a14:foregroundMark x1="48397" y1="17915" x2="48435" y2="17930"/>
                        <a14:foregroundMark x1="63939" y1="24284" x2="64103" y2="24430"/>
                        <a14:foregroundMark x1="61538" y1="22150" x2="61762" y2="22349"/>
                        <a14:foregroundMark x1="63782" y1="31922" x2="65385" y2="39088"/>
                        <a14:foregroundMark x1="36859" y1="32573" x2="33333" y2="39739"/>
                        <a14:foregroundMark x1="36218" y1="23779" x2="38141" y2="23779"/>
                        <a14:foregroundMark x1="74361" y1="20567" x2="76282" y2="21498"/>
                        <a14:foregroundMark x1="72922" y1="19870" x2="73522" y2="20161"/>
                        <a14:foregroundMark x1="41987" y1="4886" x2="46034" y2="6846"/>
                        <a14:foregroundMark x1="30769" y1="71661" x2="30128" y2="85016"/>
                        <a14:foregroundMark x1="6090" y1="71010" x2="6731" y2="83713"/>
                        <a14:foregroundMark x1="80449" y1="70033" x2="91346" y2="85016"/>
                        <a14:foregroundMark x1="53846" y1="71661" x2="56410" y2="71661"/>
                        <a14:foregroundMark x1="60577" y1="76221" x2="60577" y2="76221"/>
                        <a14:foregroundMark x1="59615" y1="74919" x2="63782" y2="78502"/>
                        <a14:foregroundMark x1="64744" y1="75244" x2="60256" y2="80130"/>
                        <a14:foregroundMark x1="49679" y1="68078" x2="49679" y2="82736"/>
                        <a14:foregroundMark x1="25962" y1="68404" x2="26923" y2="83388"/>
                        <a14:foregroundMark x1="13462" y1="85668" x2="25321" y2="85342"/>
                        <a14:foregroundMark x1="13141" y1="87948" x2="25962" y2="87296"/>
                        <a14:foregroundMark x1="34615" y1="83713" x2="39103" y2="87622"/>
                        <a14:foregroundMark x1="50962" y1="81759" x2="62821" y2="87296"/>
                        <a14:foregroundMark x1="5449" y1="65472" x2="24359" y2="66124"/>
                        <a14:foregroundMark x1="3846" y1="65472" x2="3205" y2="87296"/>
                        <a14:foregroundMark x1="92628" y1="66124" x2="96154" y2="78176"/>
                        <a14:backgroundMark x1="57692" y1="10749" x2="60897" y2="12704"/>
                        <a14:backgroundMark x1="50000" y1="7492" x2="52885" y2="8143"/>
                        <a14:backgroundMark x1="53205" y1="11075" x2="56410" y2="11401"/>
                        <a14:backgroundMark x1="47436" y1="8143" x2="50321" y2="8143"/>
                        <a14:backgroundMark x1="64103" y1="13681" x2="67308" y2="16938"/>
                        <a14:backgroundMark x1="61859" y1="14984" x2="57692" y2="14007"/>
                        <a14:backgroundMark x1="55769" y1="12052" x2="63782" y2="14658"/>
                        <a14:backgroundMark x1="50321" y1="9446" x2="54167" y2="10749"/>
                        <a14:backgroundMark x1="46474" y1="8143" x2="47756" y2="7818"/>
                        <a14:backgroundMark x1="45833" y1="7166" x2="47436" y2="7166"/>
                        <a14:backgroundMark x1="68590" y1="16612" x2="71154" y2="19870"/>
                        <a14:backgroundMark x1="66667" y1="17915" x2="68269" y2="18241"/>
                        <a14:backgroundMark x1="66026" y1="16938" x2="67949" y2="17590"/>
                        <a14:backgroundMark x1="72436" y1="19218" x2="72436" y2="19870"/>
                        <a14:backgroundMark x1="72756" y1="20521" x2="73077" y2="21173"/>
                      </a14:backgroundRemoval>
                    </a14:imgEffect>
                  </a14:imgLayer>
                </a14:imgProps>
              </a:ext>
            </a:extLst>
          </a:blip>
          <a:srcRect l="2534" r="3404" b="9789"/>
          <a:stretch/>
        </p:blipFill>
        <p:spPr>
          <a:xfrm>
            <a:off x="9779299" y="2439763"/>
            <a:ext cx="2096530" cy="1978471"/>
          </a:xfrm>
          <a:prstGeom prst="rect">
            <a:avLst/>
          </a:prstGeom>
        </p:spPr>
      </p:pic>
      <p:sp>
        <p:nvSpPr>
          <p:cNvPr id="6" name="Subtítulo 2">
            <a:extLst>
              <a:ext uri="{FF2B5EF4-FFF2-40B4-BE49-F238E27FC236}">
                <a16:creationId xmlns:a16="http://schemas.microsoft.com/office/drawing/2014/main" id="{0DE05C91-9113-3BAB-7CCB-BD0C366974CE}"/>
              </a:ext>
            </a:extLst>
          </p:cNvPr>
          <p:cNvSpPr txBox="1">
            <a:spLocks/>
          </p:cNvSpPr>
          <p:nvPr/>
        </p:nvSpPr>
        <p:spPr>
          <a:xfrm>
            <a:off x="1214094" y="4477201"/>
            <a:ext cx="6899520" cy="14169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None/>
              <a:defRPr sz="2200" kern="1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C" sz="2000" b="1" dirty="0">
                <a:solidFill>
                  <a:schemeClr val="tx1"/>
                </a:solidFill>
              </a:rPr>
              <a:t>Proveemos </a:t>
            </a:r>
            <a:r>
              <a:rPr lang="es-EC" sz="2000" b="1" dirty="0" err="1">
                <a:solidFill>
                  <a:schemeClr val="tx1"/>
                </a:solidFill>
              </a:rPr>
              <a:t>expertise</a:t>
            </a:r>
            <a:r>
              <a:rPr lang="es-EC" sz="2000" b="1" dirty="0">
                <a:solidFill>
                  <a:schemeClr val="tx1"/>
                </a:solidFill>
              </a:rPr>
              <a:t> práctico y formación de clase mundial para elevar las capacidades de gestión, optimizar la ejecución de iniciativas y maximizar el retorno de la inversión de nuestros clientes.</a:t>
            </a:r>
            <a:endParaRPr lang="es-E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8169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DBA07-8875-BA81-191A-FC0B09FC3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7FD7FB-6809-336E-71DA-950658A32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9" y="1123837"/>
            <a:ext cx="2332626" cy="4601183"/>
          </a:xfrm>
        </p:spPr>
        <p:txBody>
          <a:bodyPr/>
          <a:lstStyle/>
          <a:p>
            <a:r>
              <a:rPr lang="es-EC" dirty="0"/>
              <a:t>¿Qué hacemos?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F8F0D0FC-9D09-56C8-4AB2-0623F9AD6E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4040269"/>
              </p:ext>
            </p:extLst>
          </p:nvPr>
        </p:nvGraphicFramePr>
        <p:xfrm>
          <a:off x="3342290" y="1046797"/>
          <a:ext cx="7841648" cy="4785360"/>
        </p:xfrm>
        <a:graphic>
          <a:graphicData uri="http://schemas.openxmlformats.org/drawingml/2006/table">
            <a:tbl>
              <a:tblPr/>
              <a:tblGrid>
                <a:gridCol w="3920824">
                  <a:extLst>
                    <a:ext uri="{9D8B030D-6E8A-4147-A177-3AD203B41FA5}">
                      <a16:colId xmlns:a16="http://schemas.microsoft.com/office/drawing/2014/main" val="3726772455"/>
                    </a:ext>
                  </a:extLst>
                </a:gridCol>
                <a:gridCol w="3920824">
                  <a:extLst>
                    <a:ext uri="{9D8B030D-6E8A-4147-A177-3AD203B41FA5}">
                      <a16:colId xmlns:a16="http://schemas.microsoft.com/office/drawing/2014/main" val="27216178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EC" b="1" dirty="0"/>
                        <a:t>🔍 Consultoría Especializada</a:t>
                      </a:r>
                    </a:p>
                    <a:p>
                      <a:r>
                        <a:rPr lang="es-EC" dirty="0"/>
                        <a:t>• Diagnóstico de madurez en gestión de proyectos y optimización.</a:t>
                      </a:r>
                      <a:br>
                        <a:rPr lang="es-EC" dirty="0"/>
                      </a:br>
                      <a:r>
                        <a:rPr lang="es-EC" dirty="0"/>
                        <a:t>• Implementación de Oficinas de Proyectos (PMO).</a:t>
                      </a:r>
                      <a:br>
                        <a:rPr lang="es-EC" dirty="0"/>
                      </a:br>
                      <a:r>
                        <a:rPr lang="es-EC" dirty="0"/>
                        <a:t>• Mentoría y coaching para Project Managers.</a:t>
                      </a:r>
                    </a:p>
                    <a:p>
                      <a:endParaRPr lang="es-EC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C" b="1" dirty="0"/>
                        <a:t>📊 Gestión de Programas y Proyectos</a:t>
                      </a:r>
                      <a:endParaRPr lang="es-EC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C" dirty="0"/>
                        <a:t>• Alineación estratégica de programas.</a:t>
                      </a:r>
                      <a:br>
                        <a:rPr lang="es-EC" dirty="0"/>
                      </a:br>
                      <a:r>
                        <a:rPr lang="es-EC" dirty="0"/>
                        <a:t>• </a:t>
                      </a:r>
                      <a:r>
                        <a:rPr lang="es-EC" dirty="0" err="1"/>
                        <a:t>Governance</a:t>
                      </a:r>
                      <a:r>
                        <a:rPr lang="es-EC" dirty="0"/>
                        <a:t> y control de beneficios.</a:t>
                      </a:r>
                      <a:br>
                        <a:rPr lang="es-EC" dirty="0"/>
                      </a:br>
                      <a:r>
                        <a:rPr lang="es-EC" dirty="0"/>
                        <a:t>• Gestión de múltiples proyectos interconectados o individuales.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EC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C" b="1" dirty="0"/>
                        <a:t>      Financiamiento de Proyectos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C" dirty="0"/>
                        <a:t>• Financiamiento no reembolsable.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C" dirty="0"/>
                        <a:t>• Inversionista ángel.</a:t>
                      </a:r>
                    </a:p>
                    <a:p>
                      <a:endParaRPr lang="es-EC" sz="1000" b="1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C" b="1" dirty="0"/>
                        <a:t>🧠 Capacitación &amp; Formación</a:t>
                      </a:r>
                      <a:endParaRPr lang="es-EC" dirty="0"/>
                    </a:p>
                    <a:p>
                      <a:r>
                        <a:rPr lang="es-EC" dirty="0"/>
                        <a:t>• Cursos basados en PMI, Agile, Scrum.</a:t>
                      </a:r>
                      <a:br>
                        <a:rPr lang="es-EC" dirty="0"/>
                      </a:br>
                      <a:r>
                        <a:rPr lang="es-EC" dirty="0"/>
                        <a:t>• Preparación para certificaciones (PMP, CAPM, Scrum).</a:t>
                      </a:r>
                      <a:br>
                        <a:rPr lang="es-EC" dirty="0"/>
                      </a:br>
                      <a:r>
                        <a:rPr lang="es-EC" dirty="0"/>
                        <a:t>• Talleres prácticos </a:t>
                      </a:r>
                      <a:r>
                        <a:rPr lang="es-EC" dirty="0" err="1"/>
                        <a:t>in-company</a:t>
                      </a:r>
                      <a:r>
                        <a:rPr lang="es-EC" dirty="0"/>
                        <a:t> y abiertos.</a:t>
                      </a:r>
                    </a:p>
                    <a:p>
                      <a:endParaRPr lang="es-EC" sz="1000" dirty="0"/>
                    </a:p>
                    <a:p>
                      <a:r>
                        <a:rPr lang="es-EC" b="1" dirty="0"/>
                        <a:t>🚀 Soluciones Agile &amp; Híbridas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C" dirty="0"/>
                        <a:t>• Implementación de metodologías tradicionales y ágiles (Cascada, Scrum, Kanban).</a:t>
                      </a:r>
                      <a:br>
                        <a:rPr lang="es-EC" dirty="0"/>
                      </a:br>
                      <a:r>
                        <a:rPr lang="es-EC" dirty="0"/>
                        <a:t>• Transformación digital ágil.</a:t>
                      </a:r>
                    </a:p>
                    <a:p>
                      <a:endParaRPr lang="es-EC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729621"/>
                  </a:ext>
                </a:extLst>
              </a:tr>
            </a:tbl>
          </a:graphicData>
        </a:graphic>
      </p:graphicFrame>
      <p:pic>
        <p:nvPicPr>
          <p:cNvPr id="6" name="Imagen 5">
            <a:extLst>
              <a:ext uri="{FF2B5EF4-FFF2-40B4-BE49-F238E27FC236}">
                <a16:creationId xmlns:a16="http://schemas.microsoft.com/office/drawing/2014/main" id="{2300B252-04D4-7EC3-03D0-CADDEC0F3F6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886" b="89577" l="2885" r="96154">
                        <a14:foregroundMark x1="48718" y1="32899" x2="52244" y2="37134"/>
                        <a14:foregroundMark x1="50521" y1="18778" x2="51603" y2="19218"/>
                        <a14:foregroundMark x1="48580" y1="17989" x2="47204" y2="17430"/>
                        <a14:foregroundMark x1="48397" y1="17915" x2="48435" y2="17930"/>
                        <a14:foregroundMark x1="63939" y1="24284" x2="64103" y2="24430"/>
                        <a14:foregroundMark x1="61538" y1="22150" x2="61762" y2="22349"/>
                        <a14:foregroundMark x1="63782" y1="31922" x2="65385" y2="39088"/>
                        <a14:foregroundMark x1="36859" y1="32573" x2="33333" y2="39739"/>
                        <a14:foregroundMark x1="36218" y1="23779" x2="38141" y2="23779"/>
                        <a14:foregroundMark x1="74361" y1="20567" x2="76282" y2="21498"/>
                        <a14:foregroundMark x1="72922" y1="19870" x2="73522" y2="20161"/>
                        <a14:foregroundMark x1="41987" y1="4886" x2="46034" y2="6846"/>
                        <a14:foregroundMark x1="30769" y1="71661" x2="30128" y2="85016"/>
                        <a14:foregroundMark x1="6090" y1="71010" x2="6731" y2="83713"/>
                        <a14:foregroundMark x1="80449" y1="70033" x2="91346" y2="85016"/>
                        <a14:foregroundMark x1="53846" y1="71661" x2="56410" y2="71661"/>
                        <a14:foregroundMark x1="60577" y1="76221" x2="60577" y2="76221"/>
                        <a14:foregroundMark x1="59615" y1="74919" x2="63782" y2="78502"/>
                        <a14:foregroundMark x1="64744" y1="75244" x2="60256" y2="80130"/>
                        <a14:foregroundMark x1="49679" y1="68078" x2="49679" y2="82736"/>
                        <a14:foregroundMark x1="25962" y1="68404" x2="26923" y2="83388"/>
                        <a14:foregroundMark x1="13462" y1="85668" x2="25321" y2="85342"/>
                        <a14:foregroundMark x1="13141" y1="87948" x2="25962" y2="87296"/>
                        <a14:foregroundMark x1="34615" y1="83713" x2="39103" y2="87622"/>
                        <a14:foregroundMark x1="50962" y1="81759" x2="62821" y2="87296"/>
                        <a14:foregroundMark x1="5449" y1="65472" x2="24359" y2="66124"/>
                        <a14:foregroundMark x1="3846" y1="65472" x2="3205" y2="87296"/>
                        <a14:foregroundMark x1="92628" y1="66124" x2="96154" y2="78176"/>
                        <a14:backgroundMark x1="57692" y1="10749" x2="60897" y2="12704"/>
                        <a14:backgroundMark x1="50000" y1="7492" x2="52885" y2="8143"/>
                        <a14:backgroundMark x1="53205" y1="11075" x2="56410" y2="11401"/>
                        <a14:backgroundMark x1="47436" y1="8143" x2="50321" y2="8143"/>
                        <a14:backgroundMark x1="64103" y1="13681" x2="67308" y2="16938"/>
                        <a14:backgroundMark x1="61859" y1="14984" x2="57692" y2="14007"/>
                        <a14:backgroundMark x1="55769" y1="12052" x2="63782" y2="14658"/>
                        <a14:backgroundMark x1="50321" y1="9446" x2="54167" y2="10749"/>
                        <a14:backgroundMark x1="46474" y1="8143" x2="47756" y2="7818"/>
                        <a14:backgroundMark x1="45833" y1="7166" x2="47436" y2="7166"/>
                        <a14:backgroundMark x1="68590" y1="16612" x2="71154" y2="19870"/>
                        <a14:backgroundMark x1="66667" y1="17915" x2="68269" y2="18241"/>
                        <a14:backgroundMark x1="66026" y1="16938" x2="67949" y2="17590"/>
                        <a14:backgroundMark x1="72436" y1="19218" x2="72436" y2="19870"/>
                        <a14:backgroundMark x1="72756" y1="20521" x2="73077" y2="21173"/>
                      </a14:backgroundRemoval>
                    </a14:imgEffect>
                  </a14:imgLayer>
                </a14:imgProps>
              </a:ext>
            </a:extLst>
          </a:blip>
          <a:srcRect l="2534" r="3404" b="9789"/>
          <a:stretch/>
        </p:blipFill>
        <p:spPr>
          <a:xfrm>
            <a:off x="11162657" y="0"/>
            <a:ext cx="1029343" cy="971379"/>
          </a:xfrm>
          <a:prstGeom prst="rect">
            <a:avLst/>
          </a:prstGeom>
        </p:spPr>
      </p:pic>
      <p:pic>
        <p:nvPicPr>
          <p:cNvPr id="7" name="Gráfico 6" descr="Dólar con relleno sólido">
            <a:extLst>
              <a:ext uri="{FF2B5EF4-FFF2-40B4-BE49-F238E27FC236}">
                <a16:creationId xmlns:a16="http://schemas.microsoft.com/office/drawing/2014/main" id="{633B77A7-C77B-76F7-A49F-9CEE30DB1E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05617" y="1321036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528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727EA-13C2-0C20-887E-EF20FC479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AE2830-04A8-E4A3-47BE-3FEDC2992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386" y="1123837"/>
            <a:ext cx="2695233" cy="4601183"/>
          </a:xfrm>
        </p:spPr>
        <p:txBody>
          <a:bodyPr/>
          <a:lstStyle/>
          <a:p>
            <a:r>
              <a:rPr lang="es-ES" dirty="0"/>
              <a:t>Lo que hacemos</a:t>
            </a:r>
            <a:r>
              <a:rPr lang="es-EC" dirty="0"/>
              <a:t>…</a:t>
            </a:r>
            <a:br>
              <a:rPr lang="es-EC" dirty="0"/>
            </a:br>
            <a:br>
              <a:rPr lang="es-EC" dirty="0"/>
            </a:br>
            <a:r>
              <a:rPr lang="es-EC" sz="3200" dirty="0"/>
              <a:t>Buscamos Financiamiento no reembolsable para proyectos.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0394B37-20AB-60BE-0409-27B51501DED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886" b="89577" l="2885" r="96154">
                        <a14:foregroundMark x1="48718" y1="32899" x2="52244" y2="37134"/>
                        <a14:foregroundMark x1="50521" y1="18778" x2="51603" y2="19218"/>
                        <a14:foregroundMark x1="48580" y1="17989" x2="47204" y2="17430"/>
                        <a14:foregroundMark x1="48397" y1="17915" x2="48435" y2="17930"/>
                        <a14:foregroundMark x1="63939" y1="24284" x2="64103" y2="24430"/>
                        <a14:foregroundMark x1="61538" y1="22150" x2="61762" y2="22349"/>
                        <a14:foregroundMark x1="63782" y1="31922" x2="65385" y2="39088"/>
                        <a14:foregroundMark x1="36859" y1="32573" x2="33333" y2="39739"/>
                        <a14:foregroundMark x1="36218" y1="23779" x2="38141" y2="23779"/>
                        <a14:foregroundMark x1="74361" y1="20567" x2="76282" y2="21498"/>
                        <a14:foregroundMark x1="72922" y1="19870" x2="73522" y2="20161"/>
                        <a14:foregroundMark x1="41987" y1="4886" x2="46034" y2="6846"/>
                        <a14:foregroundMark x1="30769" y1="71661" x2="30128" y2="85016"/>
                        <a14:foregroundMark x1="6090" y1="71010" x2="6731" y2="83713"/>
                        <a14:foregroundMark x1="80449" y1="70033" x2="91346" y2="85016"/>
                        <a14:foregroundMark x1="53846" y1="71661" x2="56410" y2="71661"/>
                        <a14:foregroundMark x1="60577" y1="76221" x2="60577" y2="76221"/>
                        <a14:foregroundMark x1="59615" y1="74919" x2="63782" y2="78502"/>
                        <a14:foregroundMark x1="64744" y1="75244" x2="60256" y2="80130"/>
                        <a14:foregroundMark x1="49679" y1="68078" x2="49679" y2="82736"/>
                        <a14:foregroundMark x1="25962" y1="68404" x2="26923" y2="83388"/>
                        <a14:foregroundMark x1="13462" y1="85668" x2="25321" y2="85342"/>
                        <a14:foregroundMark x1="13141" y1="87948" x2="25962" y2="87296"/>
                        <a14:foregroundMark x1="34615" y1="83713" x2="39103" y2="87622"/>
                        <a14:foregroundMark x1="50962" y1="81759" x2="62821" y2="87296"/>
                        <a14:foregroundMark x1="5449" y1="65472" x2="24359" y2="66124"/>
                        <a14:foregroundMark x1="3846" y1="65472" x2="3205" y2="87296"/>
                        <a14:foregroundMark x1="92628" y1="66124" x2="96154" y2="78176"/>
                        <a14:backgroundMark x1="57692" y1="10749" x2="60897" y2="12704"/>
                        <a14:backgroundMark x1="50000" y1="7492" x2="52885" y2="8143"/>
                        <a14:backgroundMark x1="53205" y1="11075" x2="56410" y2="11401"/>
                        <a14:backgroundMark x1="47436" y1="8143" x2="50321" y2="8143"/>
                        <a14:backgroundMark x1="64103" y1="13681" x2="67308" y2="16938"/>
                        <a14:backgroundMark x1="61859" y1="14984" x2="57692" y2="14007"/>
                        <a14:backgroundMark x1="55769" y1="12052" x2="63782" y2="14658"/>
                        <a14:backgroundMark x1="50321" y1="9446" x2="54167" y2="10749"/>
                        <a14:backgroundMark x1="46474" y1="8143" x2="47756" y2="7818"/>
                        <a14:backgroundMark x1="45833" y1="7166" x2="47436" y2="7166"/>
                        <a14:backgroundMark x1="68590" y1="16612" x2="71154" y2="19870"/>
                        <a14:backgroundMark x1="66667" y1="17915" x2="68269" y2="18241"/>
                        <a14:backgroundMark x1="66026" y1="16938" x2="67949" y2="17590"/>
                        <a14:backgroundMark x1="72436" y1="19218" x2="72436" y2="19870"/>
                        <a14:backgroundMark x1="72756" y1="20521" x2="73077" y2="21173"/>
                      </a14:backgroundRemoval>
                    </a14:imgEffect>
                  </a14:imgLayer>
                </a14:imgProps>
              </a:ext>
            </a:extLst>
          </a:blip>
          <a:srcRect l="2534" r="3404" b="9789"/>
          <a:stretch/>
        </p:blipFill>
        <p:spPr>
          <a:xfrm>
            <a:off x="11162657" y="0"/>
            <a:ext cx="1029343" cy="971379"/>
          </a:xfrm>
          <a:prstGeom prst="rect">
            <a:avLst/>
          </a:prstGeom>
        </p:spPr>
      </p:pic>
      <p:graphicFrame>
        <p:nvGraphicFramePr>
          <p:cNvPr id="7" name="Marcador de contenido 6">
            <a:extLst>
              <a:ext uri="{FF2B5EF4-FFF2-40B4-BE49-F238E27FC236}">
                <a16:creationId xmlns:a16="http://schemas.microsoft.com/office/drawing/2014/main" id="{7023F99E-541F-7F14-6878-73E52C2989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1236236"/>
              </p:ext>
            </p:extLst>
          </p:nvPr>
        </p:nvGraphicFramePr>
        <p:xfrm>
          <a:off x="3868737" y="863600"/>
          <a:ext cx="7923869" cy="51212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743869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023E6FF1-1D76-DDEC-AE68-88CADAA1D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670" y="1934573"/>
            <a:ext cx="2961234" cy="2377440"/>
          </a:xfrm>
        </p:spPr>
        <p:txBody>
          <a:bodyPr/>
          <a:lstStyle/>
          <a:p>
            <a:r>
              <a:rPr lang="es-ES" dirty="0"/>
              <a:t>Qué sucede con los proyectos que necesitan financiamiento...</a:t>
            </a:r>
            <a:endParaRPr lang="es-EC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5FC88053-EA35-87D3-A126-953E6AD7D3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6981" y="751437"/>
            <a:ext cx="2458230" cy="4363729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s-MX" dirty="0"/>
              <a:t>Cuando un proyecto no obtiene financiamiento, generalmente ocurre una de estas situaciones:</a:t>
            </a:r>
          </a:p>
          <a:p>
            <a:r>
              <a:rPr lang="es-MX" dirty="0"/>
              <a:t>No pasa el filtro inicial (alineación estratégica insuficiente).</a:t>
            </a:r>
          </a:p>
          <a:p>
            <a:r>
              <a:rPr lang="es-MX" dirty="0"/>
              <a:t>No supera evaluación técnica.</a:t>
            </a:r>
          </a:p>
          <a:p>
            <a:r>
              <a:rPr lang="es-MX" dirty="0"/>
              <a:t>No alcanza el umbral financiero esperado (ROI, TIR, VAN).</a:t>
            </a:r>
          </a:p>
          <a:p>
            <a:r>
              <a:rPr lang="es-MX" dirty="0"/>
              <a:t>Existe alta percepción de riesgo.</a:t>
            </a:r>
          </a:p>
          <a:p>
            <a:r>
              <a:rPr lang="es-MX" dirty="0"/>
              <a:t>El fondo tiene presupuesto limitado y prioriza otros proyectos.</a:t>
            </a:r>
          </a:p>
          <a:p>
            <a:pPr marL="0" indent="0">
              <a:buNone/>
            </a:pPr>
            <a:r>
              <a:rPr lang="es-MX" dirty="0"/>
              <a:t>En convocatorias competitivas, los ratios de aprobación suelen estar entre </a:t>
            </a:r>
            <a:r>
              <a:rPr lang="es-MX" b="1" dirty="0"/>
              <a:t>5% y 25%</a:t>
            </a:r>
            <a:r>
              <a:rPr lang="es-MX" dirty="0"/>
              <a:t>, dependiendo del fondo.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6E473658-FEC4-D876-A547-9A93D07210A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491805" y="751437"/>
            <a:ext cx="2458230" cy="4363729"/>
          </a:xfrm>
          <a:solidFill>
            <a:schemeClr val="accent3">
              <a:lumMod val="20000"/>
              <a:lumOff val="80000"/>
            </a:schemeClr>
          </a:solidFill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s-MX" sz="1300" dirty="0"/>
              <a:t>En la práctica, un “no” suele significar:</a:t>
            </a:r>
          </a:p>
          <a:p>
            <a:r>
              <a:rPr lang="es-MX" sz="1300" dirty="0"/>
              <a:t>El proyecto necesita mejor formulación.</a:t>
            </a:r>
          </a:p>
          <a:p>
            <a:r>
              <a:rPr lang="es-MX" sz="1300" dirty="0"/>
              <a:t>Falta claridad en el problema o impacto.</a:t>
            </a:r>
          </a:p>
          <a:p>
            <a:r>
              <a:rPr lang="es-MX" sz="1300" dirty="0"/>
              <a:t>Riesgos no mitigados adecuadamente.</a:t>
            </a:r>
          </a:p>
          <a:p>
            <a:r>
              <a:rPr lang="es-MX" sz="1300" dirty="0"/>
              <a:t>Modelo financiero débil.</a:t>
            </a:r>
          </a:p>
          <a:p>
            <a:r>
              <a:rPr lang="es-MX" sz="1300" dirty="0"/>
              <a:t>No estaba alineado con la estrategia del financiador.</a:t>
            </a:r>
          </a:p>
          <a:p>
            <a:pPr marL="0" indent="0">
              <a:buNone/>
            </a:pPr>
            <a:r>
              <a:rPr lang="es-MX" sz="1300" dirty="0"/>
              <a:t>Rara vez significa que la idea sea mala.</a:t>
            </a:r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06FBA221-BC1F-8BBA-8D5A-7E37FB2468C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9076629" y="751437"/>
            <a:ext cx="2496608" cy="4363729"/>
          </a:xfrm>
          <a:solidFill>
            <a:schemeClr val="accent4">
              <a:lumMod val="20000"/>
              <a:lumOff val="80000"/>
            </a:schemeClr>
          </a:solidFill>
        </p:spPr>
        <p:txBody>
          <a:bodyPr anchor="t">
            <a:noAutofit/>
          </a:bodyPr>
          <a:lstStyle/>
          <a:p>
            <a:pPr marL="0" indent="0">
              <a:buNone/>
            </a:pPr>
            <a:r>
              <a:rPr lang="es-MX" sz="1300" dirty="0"/>
              <a:t>Suelen ocurrir tres cosas:</a:t>
            </a:r>
          </a:p>
          <a:p>
            <a:r>
              <a:rPr lang="es-MX" sz="1300" dirty="0"/>
              <a:t>📌 El proyecto se archiva temporalmente.</a:t>
            </a:r>
          </a:p>
          <a:p>
            <a:r>
              <a:rPr lang="es-MX" sz="1300" dirty="0"/>
              <a:t>📌 Se integra dentro de otra línea de investigación.</a:t>
            </a:r>
          </a:p>
          <a:p>
            <a:r>
              <a:rPr lang="es-MX" sz="1300" dirty="0"/>
              <a:t>📌 Se transforma en artículo científico, tesis o estudio conceptual.</a:t>
            </a:r>
          </a:p>
          <a:p>
            <a:pPr marL="0" indent="0">
              <a:buNone/>
            </a:pPr>
            <a:r>
              <a:rPr lang="es-MX" sz="1300" dirty="0"/>
              <a:t>Muchas grandes investigaciones empezaron sin financiamiento inicial.</a:t>
            </a:r>
          </a:p>
          <a:p>
            <a:pPr marL="0" indent="0">
              <a:buNone/>
            </a:pPr>
            <a:r>
              <a:rPr lang="es-MX" sz="1300" dirty="0"/>
              <a:t>Y, suele existir impacto emocional y profesional.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2ACFAC0C-0E5E-0442-9CD9-06891A1447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87792" y="5115166"/>
            <a:ext cx="2477419" cy="803275"/>
          </a:xfrm>
          <a:solidFill>
            <a:schemeClr val="accent2">
              <a:lumMod val="50000"/>
            </a:schemeClr>
          </a:solidFill>
        </p:spPr>
        <p:txBody>
          <a:bodyPr>
            <a:normAutofit fontScale="85000" lnSpcReduction="10000"/>
          </a:bodyPr>
          <a:lstStyle/>
          <a:p>
            <a:r>
              <a:rPr lang="es-MX" b="1" dirty="0">
                <a:solidFill>
                  <a:schemeClr val="bg1"/>
                </a:solidFill>
              </a:rPr>
              <a:t>Escenario más común: Rechazo formal del financiamiento</a:t>
            </a:r>
          </a:p>
        </p:txBody>
      </p: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D6BE231D-7A87-2A5B-047B-01E4855333E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91805" y="5115166"/>
            <a:ext cx="2477419" cy="803275"/>
          </a:xfrm>
          <a:solidFill>
            <a:schemeClr val="accent2">
              <a:lumMod val="50000"/>
            </a:schemeClr>
          </a:solidFill>
        </p:spPr>
        <p:txBody>
          <a:bodyPr>
            <a:normAutofit/>
          </a:bodyPr>
          <a:lstStyle/>
          <a:p>
            <a:r>
              <a:rPr lang="es-MX" sz="1700" b="1" dirty="0">
                <a:solidFill>
                  <a:schemeClr val="bg1"/>
                </a:solidFill>
              </a:rPr>
              <a:t>Lo que realmente significa el “no”</a:t>
            </a:r>
            <a:endParaRPr lang="es-EC" sz="1700" b="1" dirty="0">
              <a:solidFill>
                <a:schemeClr val="bg1"/>
              </a:solidFill>
            </a:endParaRPr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32169E11-1C85-DF14-3F5D-5FE954083AE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095818" y="5115166"/>
            <a:ext cx="2477419" cy="803275"/>
          </a:xfrm>
          <a:solidFill>
            <a:schemeClr val="accent2">
              <a:lumMod val="50000"/>
            </a:schemeClr>
          </a:solidFill>
        </p:spPr>
        <p:txBody>
          <a:bodyPr>
            <a:normAutofit fontScale="85000" lnSpcReduction="10000"/>
          </a:bodyPr>
          <a:lstStyle/>
          <a:p>
            <a:r>
              <a:rPr lang="es-MX" b="1" dirty="0">
                <a:solidFill>
                  <a:schemeClr val="bg1"/>
                </a:solidFill>
              </a:rPr>
              <a:t>Qué pasa si definitivamente no se consigue financiamiento</a:t>
            </a:r>
            <a:endParaRPr lang="es-EC" b="1" dirty="0">
              <a:solidFill>
                <a:schemeClr val="bg1"/>
              </a:solidFill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188F7CAB-4451-A8ED-558F-5A521F3DBBD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886" b="89577" l="2885" r="96154">
                        <a14:foregroundMark x1="48718" y1="32899" x2="52244" y2="37134"/>
                        <a14:foregroundMark x1="50521" y1="18778" x2="51603" y2="19218"/>
                        <a14:foregroundMark x1="48580" y1="17989" x2="47204" y2="17430"/>
                        <a14:foregroundMark x1="48397" y1="17915" x2="48435" y2="17930"/>
                        <a14:foregroundMark x1="63939" y1="24284" x2="64103" y2="24430"/>
                        <a14:foregroundMark x1="61538" y1="22150" x2="61762" y2="22349"/>
                        <a14:foregroundMark x1="63782" y1="31922" x2="65385" y2="39088"/>
                        <a14:foregroundMark x1="36859" y1="32573" x2="33333" y2="39739"/>
                        <a14:foregroundMark x1="36218" y1="23779" x2="38141" y2="23779"/>
                        <a14:foregroundMark x1="74361" y1="20567" x2="76282" y2="21498"/>
                        <a14:foregroundMark x1="72922" y1="19870" x2="73522" y2="20161"/>
                        <a14:foregroundMark x1="41987" y1="4886" x2="46034" y2="6846"/>
                        <a14:foregroundMark x1="30769" y1="71661" x2="30128" y2="85016"/>
                        <a14:foregroundMark x1="6090" y1="71010" x2="6731" y2="83713"/>
                        <a14:foregroundMark x1="80449" y1="70033" x2="91346" y2="85016"/>
                        <a14:foregroundMark x1="53846" y1="71661" x2="56410" y2="71661"/>
                        <a14:foregroundMark x1="60577" y1="76221" x2="60577" y2="76221"/>
                        <a14:foregroundMark x1="59615" y1="74919" x2="63782" y2="78502"/>
                        <a14:foregroundMark x1="64744" y1="75244" x2="60256" y2="80130"/>
                        <a14:foregroundMark x1="49679" y1="68078" x2="49679" y2="82736"/>
                        <a14:foregroundMark x1="25962" y1="68404" x2="26923" y2="83388"/>
                        <a14:foregroundMark x1="13462" y1="85668" x2="25321" y2="85342"/>
                        <a14:foregroundMark x1="13141" y1="87948" x2="25962" y2="87296"/>
                        <a14:foregroundMark x1="34615" y1="83713" x2="39103" y2="87622"/>
                        <a14:foregroundMark x1="50962" y1="81759" x2="62821" y2="87296"/>
                        <a14:foregroundMark x1="5449" y1="65472" x2="24359" y2="66124"/>
                        <a14:foregroundMark x1="3846" y1="65472" x2="3205" y2="87296"/>
                        <a14:foregroundMark x1="92628" y1="66124" x2="96154" y2="78176"/>
                        <a14:backgroundMark x1="57692" y1="10749" x2="60897" y2="12704"/>
                        <a14:backgroundMark x1="50000" y1="7492" x2="52885" y2="8143"/>
                        <a14:backgroundMark x1="53205" y1="11075" x2="56410" y2="11401"/>
                        <a14:backgroundMark x1="47436" y1="8143" x2="50321" y2="8143"/>
                        <a14:backgroundMark x1="64103" y1="13681" x2="67308" y2="16938"/>
                        <a14:backgroundMark x1="61859" y1="14984" x2="57692" y2="14007"/>
                        <a14:backgroundMark x1="55769" y1="12052" x2="63782" y2="14658"/>
                        <a14:backgroundMark x1="50321" y1="9446" x2="54167" y2="10749"/>
                        <a14:backgroundMark x1="46474" y1="8143" x2="47756" y2="7818"/>
                        <a14:backgroundMark x1="45833" y1="7166" x2="47436" y2="7166"/>
                        <a14:backgroundMark x1="68590" y1="16612" x2="71154" y2="19870"/>
                        <a14:backgroundMark x1="66667" y1="17915" x2="68269" y2="18241"/>
                        <a14:backgroundMark x1="66026" y1="16938" x2="67949" y2="17590"/>
                        <a14:backgroundMark x1="72436" y1="19218" x2="72436" y2="19870"/>
                        <a14:backgroundMark x1="72756" y1="20521" x2="73077" y2="21173"/>
                      </a14:backgroundRemoval>
                    </a14:imgEffect>
                  </a14:imgLayer>
                </a14:imgProps>
              </a:ext>
            </a:extLst>
          </a:blip>
          <a:srcRect l="2534" r="3404" b="9789"/>
          <a:stretch/>
        </p:blipFill>
        <p:spPr>
          <a:xfrm>
            <a:off x="11162657" y="0"/>
            <a:ext cx="1029343" cy="971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872631"/>
      </p:ext>
    </p:extLst>
  </p:cSld>
  <p:clrMapOvr>
    <a:masterClrMapping/>
  </p:clrMapOvr>
</p:sld>
</file>

<file path=ppt/theme/theme1.xml><?xml version="1.0" encoding="utf-8"?>
<a:theme xmlns:a="http://schemas.openxmlformats.org/drawingml/2006/main" name="Marco">
  <a:themeElements>
    <a:clrScheme name="Frame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18A1B607-7BAE-46D6-8090-545AC7BDD739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1c2eb7a32e66fb6e4260f3771546a5e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04e1f6479c48b08974ba73b5ca973489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0541854-87B3-4953-A183-EF3BD285377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E577E783-5AB8-45E6-9E56-AE40075231B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FB9BFA2-1FA5-44A1-B975-10D6BF58ECD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Diseño de arquitectura</Template>
  <TotalTime>7559</TotalTime>
  <Words>455</Words>
  <Application>Microsoft Office PowerPoint</Application>
  <PresentationFormat>Panorámica</PresentationFormat>
  <Paragraphs>52</Paragraphs>
  <Slides>4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10" baseType="lpstr">
      <vt:lpstr>Aptos</vt:lpstr>
      <vt:lpstr>Arial</vt:lpstr>
      <vt:lpstr>Calibri</vt:lpstr>
      <vt:lpstr>Corbel</vt:lpstr>
      <vt:lpstr>Wingdings 2</vt:lpstr>
      <vt:lpstr>Marco</vt:lpstr>
      <vt:lpstr>PRO3 Consultoría &amp; Capacitación en Gestión de Proyectos y Programas.</vt:lpstr>
      <vt:lpstr>¿Qué hacemos?</vt:lpstr>
      <vt:lpstr>Lo que hacemos…  Buscamos Financiamiento no reembolsable para proyectos.</vt:lpstr>
      <vt:lpstr>Qué sucede con los proyectos que necesitan financiamiento...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Franklin  Curay</dc:creator>
  <cp:lastModifiedBy>Franklin Curay</cp:lastModifiedBy>
  <cp:revision>11</cp:revision>
  <dcterms:created xsi:type="dcterms:W3CDTF">2025-09-01T04:31:22Z</dcterms:created>
  <dcterms:modified xsi:type="dcterms:W3CDTF">2026-02-22T02:24:10Z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